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87d6fa5e-92ad-e955-e1d1-1374c2937c08}">
          <p14:sldIdLst>
            <p14:sldId id="256"/>
          </p14:sldIdLst>
        </p14:section>
        <p14:section name="Qué es RUAH" id="{06229d3c-1c21-16c3-2dc3-c39b1ed70974}">
          <p14:sldIdLst>
            <p14:sldId id="257"/>
            <p14:sldId id="258"/>
          </p14:sldIdLst>
        </p14:section>
        <p14:section name="Avance" id="{69938166-f358-68c6-b4ac-ad01f76bb0c0}">
          <p14:sldIdLst>
            <p14:sldId id="259"/>
          </p14:sldIdLst>
        </p14:section>
        <p14:section name="Áreas en producción" id="{ec170ced-000e-2a89-b135-c002ac79cb50}">
          <p14:sldIdLst>
            <p14:sldId id="260"/>
            <p14:sldId id="261"/>
            <p14:sldId id="262"/>
            <p14:sldId id="263"/>
          </p14:sldIdLst>
        </p14:section>
        <p14:section name="Lo que viene" id="{d40d86a6-f6b9-30b3-3e1a-a6ae6e564969}">
          <p14:sldIdLst>
            <p14:sldId id="264"/>
            <p14:sldId id="265"/>
          </p14:sldIdLst>
        </p14:section>
        <p14:section name="Gobierno" id="{38f2b0af-d38a-c176-f212-74f252e5ea63}">
          <p14:sldIdLst>
            <p14:sldId id="266"/>
          </p14:sldIdLst>
        </p14:section>
        <p14:section name="Decisiones" id="{29164fc9-3744-1064-18c2-23842ba86281}">
          <p14:sldIdLst>
            <p14:sldId id="267"/>
            <p14:sldId id="268"/>
          </p14:sldIdLst>
        </p14:section>
        <p14:section name="Cierre" id="{e7db7cf7-2a80-104a-d209-498ff91048d1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B57"/>
              </a:solidFill>
              <a:ln w="25400" cap="flat">
                <a:solidFill>
                  <a:srgbClr val="0F2238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0A526"/>
              </a:solidFill>
              <a:ln w="25400" cap="flat">
                <a:solidFill>
                  <a:srgbClr val="0F2238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0868F"/>
              </a:solidFill>
              <a:ln w="25400" cap="flat">
                <a:solidFill>
                  <a:srgbClr val="0F2238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Cerradas</c:v>
                </c:pt>
                <c:pt idx="1">
                  <c:v>Bloqueadas</c:v>
                </c:pt>
                <c:pt idx="2">
                  <c:v>Pendiente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Buenos días. Hoy les presento RUAH 3.0, el sistema de gestión institucional de La Mansión. La idea central: no es «el sistema del Encuentro», es el ERP de toda la institución. Vamos a ver el mapa completo de áreas, cuánto está construido y qué decisiones necesitamos para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RUAH nace con el Encuentro porque era la urgencia, pero cuatro quintas partes de lo construido es núcleo institucional. Principio clave: una persona, muchos papeles. Quien viene al Encuentro como peregrino puede ser después alumno de la escuela, cliente de la cafetería o donante, y el sistema lo reconoce como la misma persona.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mapa completo. Al centro, RUAH 3.0 como ERP de La Mansión. Alrededor, el núcleo compartido: Personas, Cobranza, Gobierno e Institucional. Todas las áreas se conectan a ese núcleo. En verde lo que ya está en producción: Contabilidad, Caja y el Encuentro. En amarillo lo que espera una decisión: Escuela de formación, Salones y grupos, Cafetería y tienda, Ofrendas. Gastos y proveedores está planificado para la fase 6. Empleados aparece como propuesta nueva: todavía no está en el mapa canónico y hay que definir su alcance.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construido está terminado, no esbozado. Las 34 ventanas contratadas existen, con sus estados de carga, vacío, error y solo lectura, y probadas en cinco anchos de pantalla. 357 cuentas contables, 65 tablas, 61 permisos y 14 roles. De las siete fases, cuatro están cerradas; dos están bloqueadas por decisiones de negocio y una, la de operaciones, está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núcleo son cinco piezas, todas en producción. Institucional, Personas, Cobranza, Contabilidad y Gobierno. Lo importante: el núcleo nunca depende del Encuentro. La tienda o la escuela cobrarán por aquí sin tocar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Encuentro es el módulo más grande y el único operativo de punta a punta. Gestión del evento e inscripciones, caja, hospedaje, alimentación con escaneo de credencial en el comedor, materiales sin doble entrega, transporte y servidores con 42 comisiones en 7 áreas. Son 21 ventanas solo de este módulo.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Caja y contabilidad ya están en producción. Regla de oro: ningún cobro en efectivo sin sesión de caja abierta, sin excepción, y eso aplicará también a la cafetería y la tienda. Contabilidad trabaja con partida doble por período, 357 cuentas, y cada cobro genera su asiento automáticamente.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corazón financiero. Hoy el Encuentro ya cobra por este circuito: cargo, comprobante de pago, pago y recibo numerado, con asiento automático en contabilidad. La escuela, la cafetería y las ofrendas cobrarán exactamente por el mismo camino. No hay que construir otro sistema de cobro.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son las áreas que faltan. La escuela, los salones y grupos, la cafetería y tienda y las ofrendas tienen alcance definido pero esperan una decisión. Gastos y proveedores es la fase 6, el lado del gasto. Empleados lo incluimos como propuesta: hoy no está en el mapa canónico, así que hay que decidir si entra y con qué alcance (personal, planilla).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Fases 0 a 3 cerradas: documentos, núcleo, contabilidad y el Encuentro completo. Estamos aquí. Las fases 4 y 5 están bloqueadas por preguntas de negocio: quién aprueba un salón, qué es un curso, si la tienda maneja existencias con costo. La fase 6, operaciones y gastos, está 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Seguridad: cada persona ve solo lo que su rol y su ámbito le permiten, y el servidor lo vuelve a comprobar en cada operación. Quien coordina una comisión no alcanza otra, ni la gestión, ni el dinero. Todo queda en una auditoría inmutable con actor y motivo.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Ninguna de estas preguntas la puede responder el sistema ni quien lo construye: definen qué hace la institución, no cómo se programa. Cada una detiene un alcance concreto. Las más urgentes: D-7 para la escuela, D-8 para la cafetería y tienda, y D-6 para los salones. A esto sumaría una octava: el alcance del módulo de empleados.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son decisiones sino hechos, y bloquean igual. Necesitamos las fechas reales del Encuentro, las cuentas bancarias, de QR y de PayPal, cuál es el artículo de merchandising y la cuenta contable de cada punto de caja.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ideas para llevarse. Primera: RUAH no es el sistema del Encuentro, es el ERP de La Mansión. Segunda: lo construido está terminado. Tercera: lo que falta no espera programación, espera decisiones. Propongo agendar D-6, D-7 y D-8 y definir el alcance de Empleados. Gracias.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F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" descr="/tmp/claude-0/-home-user-encuentro/d1773a65-0d41-5ea1-89db-c3b14c6bfd53/scratchpad/deck/img/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411480"/>
            <a:ext cx="6029279" cy="552754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0A526"/>
                </a:solidFill>
              </a:rPr>
              <a:t>LA MANSIÓN · INFORME DE AVANCE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96596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RUAH 3.0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08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6EDF5"/>
                </a:solidFill>
              </a:rPr>
              <a:t>Un solo sistema para toda La Mansión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FB0C5"/>
                </a:solidFill>
              </a:rPr>
              <a:t>Cómo el ERP engloba cada área, qué ya funciona y qué falta decidir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760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5"/>
                </a:solidFill>
              </a:rPr>
              <a:t>7 de octubre de 2026</a:t>
            </a:r>
            <a:endParaRPr lang="en-US" sz="14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El Encuentro es el primer módulo, no el sistema entero</a:t>
            </a:r>
            <a:endParaRPr lang="en-US" sz="3400" dirty="0"/>
          </a:p>
        </p:txBody>
      </p:sp>
      <p:sp>
        <p:nvSpPr>
          <p:cNvPr id="3" name="r0_c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4" name="r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610" y="1814170"/>
            <a:ext cx="395021" cy="395021"/>
          </a:xfrm>
          <a:prstGeom prst="rect">
            <a:avLst/>
          </a:prstGeom>
        </p:spPr>
      </p:pic>
      <p:sp>
        <p:nvSpPr>
          <p:cNvPr id="5" name="r0_h"/>
          <p:cNvSpPr txBox="1"/>
          <p:nvPr/>
        </p:nvSpPr>
        <p:spPr>
          <a:xfrm>
            <a:off x="160020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1"/>
                </a:solidFill>
              </a:rPr>
              <a:t>Un ERP institucional</a:t>
            </a:r>
            <a:endParaRPr lang="en-US" sz="2200" dirty="0"/>
          </a:p>
        </p:txBody>
      </p:sp>
      <p:sp>
        <p:nvSpPr>
          <p:cNvPr id="6" name="r0_d"/>
          <p:cNvSpPr txBox="1"/>
          <p:nvPr/>
        </p:nvSpPr>
        <p:spPr>
          <a:xfrm>
            <a:off x="1600200" y="19842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69"/>
                </a:solidFill>
              </a:rPr>
              <a:t>RUAH 3.0 gestiona toda La Mansión: personas, dinero, actividades y operaciones.</a:t>
            </a:r>
            <a:endParaRPr lang="en-US" sz="1600" dirty="0"/>
          </a:p>
        </p:txBody>
      </p:sp>
      <p:sp>
        <p:nvSpPr>
          <p:cNvPr id="7" name="r1_c"/>
          <p:cNvSpPr/>
          <p:nvPr/>
        </p:nvSpPr>
        <p:spPr>
          <a:xfrm>
            <a:off x="548640" y="3108960"/>
            <a:ext cx="822960" cy="8229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8" name="r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10" y="3322930"/>
            <a:ext cx="395021" cy="395021"/>
          </a:xfrm>
          <a:prstGeom prst="rect">
            <a:avLst/>
          </a:prstGeom>
        </p:spPr>
      </p:pic>
      <p:sp>
        <p:nvSpPr>
          <p:cNvPr id="9" name="r1_h"/>
          <p:cNvSpPr txBox="1"/>
          <p:nvPr/>
        </p:nvSpPr>
        <p:spPr>
          <a:xfrm>
            <a:off x="1600200" y="3063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1"/>
                </a:solidFill>
              </a:rPr>
              <a:t>Una persona, muchos papeles</a:t>
            </a:r>
            <a:endParaRPr lang="en-US" sz="2200" dirty="0"/>
          </a:p>
        </p:txBody>
      </p:sp>
      <p:sp>
        <p:nvSpPr>
          <p:cNvPr id="10" name="r1_d"/>
          <p:cNvSpPr txBox="1"/>
          <p:nvPr/>
        </p:nvSpPr>
        <p:spPr>
          <a:xfrm>
            <a:off x="1600200" y="349300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69"/>
                </a:solidFill>
              </a:rPr>
              <a:t>Feligrés, servidor, peregrino, alumno, donante y cliente son la misma persona, nunca registros separados.</a:t>
            </a:r>
            <a:endParaRPr lang="en-US" sz="1600" dirty="0"/>
          </a:p>
        </p:txBody>
      </p:sp>
      <p:sp>
        <p:nvSpPr>
          <p:cNvPr id="11" name="r2_c"/>
          <p:cNvSpPr/>
          <p:nvPr/>
        </p:nvSpPr>
        <p:spPr>
          <a:xfrm>
            <a:off x="548640" y="4617720"/>
            <a:ext cx="822960" cy="8229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r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10" y="4831690"/>
            <a:ext cx="395021" cy="395021"/>
          </a:xfrm>
          <a:prstGeom prst="rect">
            <a:avLst/>
          </a:prstGeom>
        </p:spPr>
      </p:pic>
      <p:sp>
        <p:nvSpPr>
          <p:cNvPr id="13" name="r2_h"/>
          <p:cNvSpPr txBox="1"/>
          <p:nvPr/>
        </p:nvSpPr>
        <p:spPr>
          <a:xfrm>
            <a:off x="1600200" y="45720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D21"/>
                </a:solidFill>
              </a:rPr>
              <a:t>Se construye por capas</a:t>
            </a:r>
            <a:endParaRPr lang="en-US" sz="2200" dirty="0"/>
          </a:p>
        </p:txBody>
      </p:sp>
      <p:sp>
        <p:nvSpPr>
          <p:cNvPr id="14" name="r2_d"/>
          <p:cNvSpPr txBox="1"/>
          <p:nvPr/>
        </p:nvSpPr>
        <p:spPr>
          <a:xfrm>
            <a:off x="1600200" y="500176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A6069"/>
                </a:solidFill>
              </a:rPr>
              <a:t>Primero el núcleo compartido; luego cada área se conecta sin rehacer nada.</a:t>
            </a:r>
            <a:endParaRPr lang="en-US" sz="1600" dirty="0"/>
          </a:p>
        </p:txBody>
      </p:sp>
      <p:pic>
        <p:nvPicPr>
          <p:cNvPr id="15" name="personas" descr="/tmp/claude-0/-home-user-encuentro/d1773a65-0d41-5ea1-89db-c3b14c6bfd53/scratchpad/deck/img/persona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234440"/>
            <a:ext cx="4937760" cy="4937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Así engloba RUAH a toda La Mansión</a:t>
            </a:r>
            <a:endParaRPr lang="en-US" sz="3400" dirty="0"/>
          </a:p>
        </p:txBody>
      </p:sp>
      <p:pic>
        <p:nvPicPr>
          <p:cNvPr id="3" name="eco" descr="/tmp/claude-0/-home-user-encuentro/d1773a65-0d41-5ea1-89db-c3b14c6bfd53/scratchpad/deck/img/ecosiste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1188720"/>
            <a:ext cx="8988552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El avance en cifras</a:t>
            </a:r>
            <a:endParaRPr lang="en-US" sz="3400" dirty="0"/>
          </a:p>
        </p:txBody>
      </p:sp>
      <p:sp>
        <p:nvSpPr>
          <p:cNvPr id="3" name="st0_b"/>
          <p:cNvSpPr/>
          <p:nvPr/>
        </p:nvSpPr>
        <p:spPr>
          <a:xfrm>
            <a:off x="548640" y="1417320"/>
            <a:ext cx="2084832" cy="1691640"/>
          </a:xfrm>
          <a:prstGeom prst="roundRect">
            <a:avLst>
              <a:gd name="adj" fmla="val 64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4" name="st0_n"/>
          <p:cNvSpPr txBox="1"/>
          <p:nvPr/>
        </p:nvSpPr>
        <p:spPr>
          <a:xfrm>
            <a:off x="685800" y="1554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</a:rPr>
              <a:t>34/34</a:t>
            </a:r>
            <a:endParaRPr lang="en-US" sz="4400" dirty="0"/>
          </a:p>
        </p:txBody>
      </p:sp>
      <p:sp>
        <p:nvSpPr>
          <p:cNvPr id="5" name="st0_l"/>
          <p:cNvSpPr txBox="1"/>
          <p:nvPr/>
        </p:nvSpPr>
        <p:spPr>
          <a:xfrm>
            <a:off x="685800" y="23774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ventanas contratadas, construidas</a:t>
            </a:r>
            <a:endParaRPr lang="en-US" sz="1400" dirty="0"/>
          </a:p>
        </p:txBody>
      </p:sp>
      <p:sp>
        <p:nvSpPr>
          <p:cNvPr id="6" name="st1_b"/>
          <p:cNvSpPr/>
          <p:nvPr/>
        </p:nvSpPr>
        <p:spPr>
          <a:xfrm>
            <a:off x="2816352" y="1417320"/>
            <a:ext cx="2084832" cy="1691640"/>
          </a:xfrm>
          <a:prstGeom prst="roundRect">
            <a:avLst>
              <a:gd name="adj" fmla="val 64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7" name="st1_n"/>
          <p:cNvSpPr txBox="1"/>
          <p:nvPr/>
        </p:nvSpPr>
        <p:spPr>
          <a:xfrm>
            <a:off x="2953512" y="1554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</a:rPr>
              <a:t>357</a:t>
            </a:r>
            <a:endParaRPr lang="en-US" sz="4400" dirty="0"/>
          </a:p>
        </p:txBody>
      </p:sp>
      <p:sp>
        <p:nvSpPr>
          <p:cNvPr id="8" name="st1_l"/>
          <p:cNvSpPr txBox="1"/>
          <p:nvPr/>
        </p:nvSpPr>
        <p:spPr>
          <a:xfrm>
            <a:off x="2953512" y="23774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cuentas del plan contable</a:t>
            </a:r>
            <a:endParaRPr lang="en-US" sz="1400" dirty="0"/>
          </a:p>
        </p:txBody>
      </p:sp>
      <p:sp>
        <p:nvSpPr>
          <p:cNvPr id="9" name="st2_b"/>
          <p:cNvSpPr/>
          <p:nvPr/>
        </p:nvSpPr>
        <p:spPr>
          <a:xfrm>
            <a:off x="5084064" y="1417320"/>
            <a:ext cx="2084832" cy="1691640"/>
          </a:xfrm>
          <a:prstGeom prst="roundRect">
            <a:avLst>
              <a:gd name="adj" fmla="val 64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10" name="st2_n"/>
          <p:cNvSpPr txBox="1"/>
          <p:nvPr/>
        </p:nvSpPr>
        <p:spPr>
          <a:xfrm>
            <a:off x="5221224" y="1554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</a:rPr>
              <a:t>65</a:t>
            </a:r>
            <a:endParaRPr lang="en-US" sz="4400" dirty="0"/>
          </a:p>
        </p:txBody>
      </p:sp>
      <p:sp>
        <p:nvSpPr>
          <p:cNvPr id="11" name="st2_l"/>
          <p:cNvSpPr txBox="1"/>
          <p:nvPr/>
        </p:nvSpPr>
        <p:spPr>
          <a:xfrm>
            <a:off x="5221224" y="23774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tablas en base de datos</a:t>
            </a:r>
            <a:endParaRPr lang="en-US" sz="1400" dirty="0"/>
          </a:p>
        </p:txBody>
      </p:sp>
      <p:sp>
        <p:nvSpPr>
          <p:cNvPr id="12" name="st3_b"/>
          <p:cNvSpPr/>
          <p:nvPr/>
        </p:nvSpPr>
        <p:spPr>
          <a:xfrm>
            <a:off x="7351776" y="1417320"/>
            <a:ext cx="2084832" cy="1691640"/>
          </a:xfrm>
          <a:prstGeom prst="roundRect">
            <a:avLst>
              <a:gd name="adj" fmla="val 64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13" name="st3_n"/>
          <p:cNvSpPr txBox="1"/>
          <p:nvPr/>
        </p:nvSpPr>
        <p:spPr>
          <a:xfrm>
            <a:off x="7488936" y="1554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</a:rPr>
              <a:t>61</a:t>
            </a:r>
            <a:endParaRPr lang="en-US" sz="4400" dirty="0"/>
          </a:p>
        </p:txBody>
      </p:sp>
      <p:sp>
        <p:nvSpPr>
          <p:cNvPr id="14" name="st3_l"/>
          <p:cNvSpPr txBox="1"/>
          <p:nvPr/>
        </p:nvSpPr>
        <p:spPr>
          <a:xfrm>
            <a:off x="7488936" y="23774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permisos en 4 ámbitos</a:t>
            </a:r>
            <a:endParaRPr lang="en-US" sz="1400" dirty="0"/>
          </a:p>
        </p:txBody>
      </p:sp>
      <p:sp>
        <p:nvSpPr>
          <p:cNvPr id="15" name="st4_b"/>
          <p:cNvSpPr/>
          <p:nvPr/>
        </p:nvSpPr>
        <p:spPr>
          <a:xfrm>
            <a:off x="9619488" y="1417320"/>
            <a:ext cx="2084832" cy="1691640"/>
          </a:xfrm>
          <a:prstGeom prst="roundRect">
            <a:avLst>
              <a:gd name="adj" fmla="val 64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16" name="st4_n"/>
          <p:cNvSpPr txBox="1"/>
          <p:nvPr/>
        </p:nvSpPr>
        <p:spPr>
          <a:xfrm>
            <a:off x="9756648" y="155448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0A526"/>
                </a:solidFill>
              </a:rPr>
              <a:t>14</a:t>
            </a:r>
            <a:endParaRPr lang="en-US" sz="4400" dirty="0"/>
          </a:p>
        </p:txBody>
      </p:sp>
      <p:sp>
        <p:nvSpPr>
          <p:cNvPr id="17" name="st4_l"/>
          <p:cNvSpPr txBox="1"/>
          <p:nvPr/>
        </p:nvSpPr>
        <p:spPr>
          <a:xfrm>
            <a:off x="9756648" y="2377440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roles definidos</a:t>
            </a:r>
            <a:endParaRPr lang="en-US" sz="1400" dirty="0"/>
          </a:p>
        </p:txBody>
      </p:sp>
      <p:graphicFrame>
        <p:nvGraphicFramePr>
          <p:cNvPr id="18" name="dona" descr=""/>
          <p:cNvGraphicFramePr/>
          <p:nvPr/>
        </p:nvGraphicFramePr>
        <p:xfrm>
          <a:off x="548640" y="3429000"/>
          <a:ext cx="310896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9" name="dona_t"/>
          <p:cNvSpPr txBox="1"/>
          <p:nvPr/>
        </p:nvSpPr>
        <p:spPr>
          <a:xfrm>
            <a:off x="1417320" y="443484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4</a:t>
            </a:r>
            <a:endParaRPr lang="en-US" sz="4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6EDF5"/>
                </a:solidFill>
              </a:rPr>
              <a:t>de 7 fases</a:t>
            </a:r>
            <a:endParaRPr lang="en-US" sz="4000" dirty="0"/>
          </a:p>
        </p:txBody>
      </p:sp>
      <p:sp>
        <p:nvSpPr>
          <p:cNvPr id="20" name="lg0_d"/>
          <p:cNvSpPr/>
          <p:nvPr/>
        </p:nvSpPr>
        <p:spPr>
          <a:xfrm>
            <a:off x="4114800" y="3730752"/>
            <a:ext cx="256032" cy="25603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lg0_h"/>
          <p:cNvSpPr txBox="1"/>
          <p:nvPr/>
        </p:nvSpPr>
        <p:spPr>
          <a:xfrm>
            <a:off x="4572000" y="36576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 fases cerradas</a:t>
            </a:r>
            <a:endParaRPr lang="en-US" sz="2000" dirty="0"/>
          </a:p>
        </p:txBody>
      </p:sp>
      <p:sp>
        <p:nvSpPr>
          <p:cNvPr id="22" name="lg0_t"/>
          <p:cNvSpPr txBox="1"/>
          <p:nvPr/>
        </p:nvSpPr>
        <p:spPr>
          <a:xfrm>
            <a:off x="457200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5"/>
                </a:solidFill>
              </a:rPr>
              <a:t>Documentos, núcleo, contabilidad y el Encuentro completo</a:t>
            </a:r>
            <a:endParaRPr lang="en-US" sz="1500" dirty="0"/>
          </a:p>
        </p:txBody>
      </p:sp>
      <p:sp>
        <p:nvSpPr>
          <p:cNvPr id="23" name="lg1_d"/>
          <p:cNvSpPr/>
          <p:nvPr/>
        </p:nvSpPr>
        <p:spPr>
          <a:xfrm>
            <a:off x="4114800" y="4599432"/>
            <a:ext cx="256032" cy="256032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4" name="lg1_h"/>
          <p:cNvSpPr txBox="1"/>
          <p:nvPr/>
        </p:nvSpPr>
        <p:spPr>
          <a:xfrm>
            <a:off x="4572000" y="45262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 fases bloqueadas</a:t>
            </a:r>
            <a:endParaRPr lang="en-US" sz="2000" dirty="0"/>
          </a:p>
        </p:txBody>
      </p:sp>
      <p:sp>
        <p:nvSpPr>
          <p:cNvPr id="25" name="lg1_t"/>
          <p:cNvSpPr txBox="1"/>
          <p:nvPr/>
        </p:nvSpPr>
        <p:spPr>
          <a:xfrm>
            <a:off x="4572000" y="48920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5"/>
                </a:solidFill>
              </a:rPr>
              <a:t>Esperan definiciones de negocio, no desarrollo</a:t>
            </a:r>
            <a:endParaRPr lang="en-US" sz="1500" dirty="0"/>
          </a:p>
        </p:txBody>
      </p:sp>
      <p:sp>
        <p:nvSpPr>
          <p:cNvPr id="26" name="lg2_d"/>
          <p:cNvSpPr/>
          <p:nvPr/>
        </p:nvSpPr>
        <p:spPr>
          <a:xfrm>
            <a:off x="4114800" y="5468112"/>
            <a:ext cx="256032" cy="256032"/>
          </a:xfrm>
          <a:prstGeom prst="ellipse">
            <a:avLst/>
          </a:prstGeom>
          <a:solidFill>
            <a:srgbClr val="80868F"/>
          </a:solidFill>
          <a:ln w="12700">
            <a:solidFill>
              <a:srgbClr val="80868F"/>
            </a:solidFill>
            <a:prstDash val="solid"/>
          </a:ln>
        </p:spPr>
      </p:sp>
      <p:sp>
        <p:nvSpPr>
          <p:cNvPr id="27" name="lg2_h"/>
          <p:cNvSpPr txBox="1"/>
          <p:nvPr/>
        </p:nvSpPr>
        <p:spPr>
          <a:xfrm>
            <a:off x="4572000" y="53949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 fase pendiente</a:t>
            </a:r>
            <a:endParaRPr lang="en-US" sz="2000" dirty="0"/>
          </a:p>
        </p:txBody>
      </p:sp>
      <p:sp>
        <p:nvSpPr>
          <p:cNvPr id="28" name="lg2_t"/>
          <p:cNvSpPr txBox="1"/>
          <p:nvPr/>
        </p:nvSpPr>
        <p:spPr>
          <a:xfrm>
            <a:off x="4572000" y="5760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5"/>
                </a:solidFill>
              </a:rPr>
              <a:t>Operaciones: proveedores, compras y obras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El núcleo compartido: lo que usan todas las áreas</a:t>
            </a:r>
            <a:endParaRPr lang="en-US" sz="3400" dirty="0"/>
          </a:p>
        </p:txBody>
      </p:sp>
      <p:sp>
        <p:nvSpPr>
          <p:cNvPr id="3" name="k0_b"/>
          <p:cNvSpPr/>
          <p:nvPr/>
        </p:nvSpPr>
        <p:spPr>
          <a:xfrm>
            <a:off x="548640" y="1463040"/>
            <a:ext cx="2066544" cy="39319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" name="k0_c"/>
          <p:cNvSpPr/>
          <p:nvPr/>
        </p:nvSpPr>
        <p:spPr>
          <a:xfrm>
            <a:off x="1124712" y="17830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5" name="k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456" y="2020824"/>
            <a:ext cx="438912" cy="438912"/>
          </a:xfrm>
          <a:prstGeom prst="rect">
            <a:avLst/>
          </a:prstGeom>
        </p:spPr>
      </p:pic>
      <p:sp>
        <p:nvSpPr>
          <p:cNvPr id="6" name="k0_h"/>
          <p:cNvSpPr txBox="1"/>
          <p:nvPr/>
        </p:nvSpPr>
        <p:spPr>
          <a:xfrm>
            <a:off x="685800" y="2880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Institucional</a:t>
            </a:r>
            <a:endParaRPr lang="en-US" sz="2000" dirty="0"/>
          </a:p>
        </p:txBody>
      </p:sp>
      <p:sp>
        <p:nvSpPr>
          <p:cNvPr id="7" name="k0_d"/>
          <p:cNvSpPr txBox="1"/>
          <p:nvPr/>
        </p:nvSpPr>
        <p:spPr>
          <a:xfrm>
            <a:off x="731520" y="338328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9"/>
                </a:solidFill>
              </a:rPr>
              <a:t>La organización y sus períodos contables anuales.</a:t>
            </a:r>
            <a:endParaRPr lang="en-US" sz="1500" dirty="0"/>
          </a:p>
        </p:txBody>
      </p:sp>
      <p:sp>
        <p:nvSpPr>
          <p:cNvPr id="8" name="k0_s"/>
          <p:cNvSpPr txBox="1"/>
          <p:nvPr/>
        </p:nvSpPr>
        <p:spPr>
          <a:xfrm>
            <a:off x="868680" y="4937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9" name="k1_b"/>
          <p:cNvSpPr/>
          <p:nvPr/>
        </p:nvSpPr>
        <p:spPr>
          <a:xfrm>
            <a:off x="2798064" y="1463040"/>
            <a:ext cx="2066544" cy="39319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0" name="k1_c"/>
          <p:cNvSpPr/>
          <p:nvPr/>
        </p:nvSpPr>
        <p:spPr>
          <a:xfrm>
            <a:off x="3374136" y="17830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1" name="k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20824"/>
            <a:ext cx="438912" cy="438912"/>
          </a:xfrm>
          <a:prstGeom prst="rect">
            <a:avLst/>
          </a:prstGeom>
        </p:spPr>
      </p:pic>
      <p:sp>
        <p:nvSpPr>
          <p:cNvPr id="12" name="k1_h"/>
          <p:cNvSpPr txBox="1"/>
          <p:nvPr/>
        </p:nvSpPr>
        <p:spPr>
          <a:xfrm>
            <a:off x="2935224" y="2880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Personas</a:t>
            </a:r>
            <a:endParaRPr lang="en-US" sz="2000" dirty="0"/>
          </a:p>
        </p:txBody>
      </p:sp>
      <p:sp>
        <p:nvSpPr>
          <p:cNvPr id="13" name="k1_d"/>
          <p:cNvSpPr txBox="1"/>
          <p:nvPr/>
        </p:nvSpPr>
        <p:spPr>
          <a:xfrm>
            <a:off x="2980944" y="338328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9"/>
                </a:solidFill>
              </a:rPr>
              <a:t>Padrón único de la comunidad, con o sin cuenta de acceso.</a:t>
            </a:r>
            <a:endParaRPr lang="en-US" sz="1500" dirty="0"/>
          </a:p>
        </p:txBody>
      </p:sp>
      <p:sp>
        <p:nvSpPr>
          <p:cNvPr id="14" name="k1_s"/>
          <p:cNvSpPr txBox="1"/>
          <p:nvPr/>
        </p:nvSpPr>
        <p:spPr>
          <a:xfrm>
            <a:off x="3118104" y="4937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15" name="k2_b"/>
          <p:cNvSpPr/>
          <p:nvPr/>
        </p:nvSpPr>
        <p:spPr>
          <a:xfrm>
            <a:off x="5047488" y="1463040"/>
            <a:ext cx="2066544" cy="39319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6" name="k2_c"/>
          <p:cNvSpPr/>
          <p:nvPr/>
        </p:nvSpPr>
        <p:spPr>
          <a:xfrm>
            <a:off x="5623560" y="17830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7" name="k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304" y="2020824"/>
            <a:ext cx="438912" cy="438912"/>
          </a:xfrm>
          <a:prstGeom prst="rect">
            <a:avLst/>
          </a:prstGeom>
        </p:spPr>
      </p:pic>
      <p:sp>
        <p:nvSpPr>
          <p:cNvPr id="18" name="k2_h"/>
          <p:cNvSpPr txBox="1"/>
          <p:nvPr/>
        </p:nvSpPr>
        <p:spPr>
          <a:xfrm>
            <a:off x="5184648" y="2880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Cobranza</a:t>
            </a:r>
            <a:endParaRPr lang="en-US" sz="2000" dirty="0"/>
          </a:p>
        </p:txBody>
      </p:sp>
      <p:sp>
        <p:nvSpPr>
          <p:cNvPr id="19" name="k2_d"/>
          <p:cNvSpPr txBox="1"/>
          <p:nvPr/>
        </p:nvSpPr>
        <p:spPr>
          <a:xfrm>
            <a:off x="5230368" y="338328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9"/>
                </a:solidFill>
              </a:rPr>
              <a:t>Cargo, comprobante, pago y recibo numerado para todo el sistema.</a:t>
            </a:r>
            <a:endParaRPr lang="en-US" sz="1500" dirty="0"/>
          </a:p>
        </p:txBody>
      </p:sp>
      <p:sp>
        <p:nvSpPr>
          <p:cNvPr id="20" name="k2_s"/>
          <p:cNvSpPr txBox="1"/>
          <p:nvPr/>
        </p:nvSpPr>
        <p:spPr>
          <a:xfrm>
            <a:off x="5367528" y="4937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21" name="k3_b"/>
          <p:cNvSpPr/>
          <p:nvPr/>
        </p:nvSpPr>
        <p:spPr>
          <a:xfrm>
            <a:off x="7296912" y="1463040"/>
            <a:ext cx="2066544" cy="39319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2" name="k3_c"/>
          <p:cNvSpPr/>
          <p:nvPr/>
        </p:nvSpPr>
        <p:spPr>
          <a:xfrm>
            <a:off x="7872984" y="17830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3" name="k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2020824"/>
            <a:ext cx="438912" cy="438912"/>
          </a:xfrm>
          <a:prstGeom prst="rect">
            <a:avLst/>
          </a:prstGeom>
        </p:spPr>
      </p:pic>
      <p:sp>
        <p:nvSpPr>
          <p:cNvPr id="24" name="k3_h"/>
          <p:cNvSpPr txBox="1"/>
          <p:nvPr/>
        </p:nvSpPr>
        <p:spPr>
          <a:xfrm>
            <a:off x="7434072" y="2880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Contabilidad</a:t>
            </a:r>
            <a:endParaRPr lang="en-US" sz="2000" dirty="0"/>
          </a:p>
        </p:txBody>
      </p:sp>
      <p:sp>
        <p:nvSpPr>
          <p:cNvPr id="25" name="k3_d"/>
          <p:cNvSpPr txBox="1"/>
          <p:nvPr/>
        </p:nvSpPr>
        <p:spPr>
          <a:xfrm>
            <a:off x="7479792" y="338328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9"/>
                </a:solidFill>
              </a:rPr>
              <a:t>Partida doble, libro diario, reportes y cierre de período.</a:t>
            </a:r>
            <a:endParaRPr lang="en-US" sz="1500" dirty="0"/>
          </a:p>
        </p:txBody>
      </p:sp>
      <p:sp>
        <p:nvSpPr>
          <p:cNvPr id="26" name="k3_s"/>
          <p:cNvSpPr txBox="1"/>
          <p:nvPr/>
        </p:nvSpPr>
        <p:spPr>
          <a:xfrm>
            <a:off x="7616952" y="4937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27" name="k4_b"/>
          <p:cNvSpPr/>
          <p:nvPr/>
        </p:nvSpPr>
        <p:spPr>
          <a:xfrm>
            <a:off x="9546336" y="1463040"/>
            <a:ext cx="2066544" cy="3931920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8" name="k4_c"/>
          <p:cNvSpPr/>
          <p:nvPr/>
        </p:nvSpPr>
        <p:spPr>
          <a:xfrm>
            <a:off x="10122408" y="178308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9" name="k4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2020824"/>
            <a:ext cx="438912" cy="438912"/>
          </a:xfrm>
          <a:prstGeom prst="rect">
            <a:avLst/>
          </a:prstGeom>
        </p:spPr>
      </p:pic>
      <p:sp>
        <p:nvSpPr>
          <p:cNvPr id="30" name="k4_h"/>
          <p:cNvSpPr txBox="1"/>
          <p:nvPr/>
        </p:nvSpPr>
        <p:spPr>
          <a:xfrm>
            <a:off x="9683496" y="2880360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Gobierno</a:t>
            </a:r>
            <a:endParaRPr lang="en-US" sz="2000" dirty="0"/>
          </a:p>
        </p:txBody>
      </p:sp>
      <p:sp>
        <p:nvSpPr>
          <p:cNvPr id="31" name="k4_d"/>
          <p:cNvSpPr txBox="1"/>
          <p:nvPr/>
        </p:nvSpPr>
        <p:spPr>
          <a:xfrm>
            <a:off x="9729216" y="3383280"/>
            <a:ext cx="17007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069"/>
                </a:solidFill>
              </a:rPr>
              <a:t>Permisos por ámbito, auditoría inmutable y notificaciones.</a:t>
            </a:r>
            <a:endParaRPr lang="en-US" sz="1500" dirty="0"/>
          </a:p>
        </p:txBody>
      </p:sp>
      <p:sp>
        <p:nvSpPr>
          <p:cNvPr id="32" name="k4_s"/>
          <p:cNvSpPr txBox="1"/>
          <p:nvPr/>
        </p:nvSpPr>
        <p:spPr>
          <a:xfrm>
            <a:off x="9866376" y="4937760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7607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69"/>
                </a:solidFill>
              </a:rPr>
              <a:t>Nunca depende del Encuentro: por eso cualquier área nueva se conecta sin tocarlo.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El Encuentro: operativo de punta a punta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017520" cy="4846320"/>
          </a:xfrm>
          <a:prstGeom prst="roundRect">
            <a:avLst>
              <a:gd name="adj" fmla="val 4545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21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FF1"/>
                </a:solidFill>
              </a:rPr>
              <a:t>ventanas del módulo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42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40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FF1"/>
                </a:solidFill>
              </a:rPr>
              <a:t>comisiones en 7 áreas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177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8 días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7EFF1"/>
                </a:solidFill>
              </a:rPr>
              <a:t>de retiro, todo registrado</a:t>
            </a:r>
            <a:endParaRPr lang="en-US" sz="1600" dirty="0"/>
          </a:p>
        </p:txBody>
      </p:sp>
      <p:sp>
        <p:nvSpPr>
          <p:cNvPr id="10" name="e0_b"/>
          <p:cNvSpPr/>
          <p:nvPr/>
        </p:nvSpPr>
        <p:spPr>
          <a:xfrm>
            <a:off x="3886200" y="13716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1" name="e0_c"/>
          <p:cNvSpPr/>
          <p:nvPr/>
        </p:nvSpPr>
        <p:spPr>
          <a:xfrm>
            <a:off x="4425696" y="16002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2" name="e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5891" y="1790395"/>
            <a:ext cx="351130" cy="351130"/>
          </a:xfrm>
          <a:prstGeom prst="rect">
            <a:avLst/>
          </a:prstGeom>
        </p:spPr>
      </p:pic>
      <p:sp>
        <p:nvSpPr>
          <p:cNvPr id="13" name="e0_h"/>
          <p:cNvSpPr txBox="1"/>
          <p:nvPr/>
        </p:nvSpPr>
        <p:spPr>
          <a:xfrm>
            <a:off x="3977640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Inscripciones</a:t>
            </a:r>
            <a:endParaRPr lang="en-US" sz="1700" dirty="0"/>
          </a:p>
        </p:txBody>
      </p:sp>
      <p:sp>
        <p:nvSpPr>
          <p:cNvPr id="14" name="e0_d"/>
          <p:cNvSpPr txBox="1"/>
          <p:nvPr/>
        </p:nvSpPr>
        <p:spPr>
          <a:xfrm>
            <a:off x="3995928" y="27889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Ventanilla, paquetes y reporte</a:t>
            </a:r>
            <a:endParaRPr lang="en-US" sz="1300" dirty="0"/>
          </a:p>
        </p:txBody>
      </p:sp>
      <p:sp>
        <p:nvSpPr>
          <p:cNvPr id="15" name="e1_b"/>
          <p:cNvSpPr/>
          <p:nvPr/>
        </p:nvSpPr>
        <p:spPr>
          <a:xfrm>
            <a:off x="5843016" y="13716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6" name="e1_c"/>
          <p:cNvSpPr/>
          <p:nvPr/>
        </p:nvSpPr>
        <p:spPr>
          <a:xfrm>
            <a:off x="6382512" y="16002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17" name="e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707" y="1790395"/>
            <a:ext cx="351130" cy="351130"/>
          </a:xfrm>
          <a:prstGeom prst="rect">
            <a:avLst/>
          </a:prstGeom>
        </p:spPr>
      </p:pic>
      <p:sp>
        <p:nvSpPr>
          <p:cNvPr id="18" name="e1_h"/>
          <p:cNvSpPr txBox="1"/>
          <p:nvPr/>
        </p:nvSpPr>
        <p:spPr>
          <a:xfrm>
            <a:off x="5934456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Caja y cobros</a:t>
            </a:r>
            <a:endParaRPr lang="en-US" sz="1700" dirty="0"/>
          </a:p>
        </p:txBody>
      </p:sp>
      <p:sp>
        <p:nvSpPr>
          <p:cNvPr id="19" name="e1_d"/>
          <p:cNvSpPr txBox="1"/>
          <p:nvPr/>
        </p:nvSpPr>
        <p:spPr>
          <a:xfrm>
            <a:off x="5952744" y="27889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Efectivo y evidencias bancarias</a:t>
            </a:r>
            <a:endParaRPr lang="en-US" sz="1300" dirty="0"/>
          </a:p>
        </p:txBody>
      </p:sp>
      <p:sp>
        <p:nvSpPr>
          <p:cNvPr id="20" name="e2_b"/>
          <p:cNvSpPr/>
          <p:nvPr/>
        </p:nvSpPr>
        <p:spPr>
          <a:xfrm>
            <a:off x="7799832" y="13716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1" name="e2_c"/>
          <p:cNvSpPr/>
          <p:nvPr/>
        </p:nvSpPr>
        <p:spPr>
          <a:xfrm>
            <a:off x="8339328" y="16002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2" name="e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523" y="1790395"/>
            <a:ext cx="351130" cy="351130"/>
          </a:xfrm>
          <a:prstGeom prst="rect">
            <a:avLst/>
          </a:prstGeom>
        </p:spPr>
      </p:pic>
      <p:sp>
        <p:nvSpPr>
          <p:cNvPr id="23" name="e2_h"/>
          <p:cNvSpPr txBox="1"/>
          <p:nvPr/>
        </p:nvSpPr>
        <p:spPr>
          <a:xfrm>
            <a:off x="7891272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Hospedaje</a:t>
            </a:r>
            <a:endParaRPr lang="en-US" sz="1700" dirty="0"/>
          </a:p>
        </p:txBody>
      </p:sp>
      <p:sp>
        <p:nvSpPr>
          <p:cNvPr id="24" name="e2_d"/>
          <p:cNvSpPr txBox="1"/>
          <p:nvPr/>
        </p:nvSpPr>
        <p:spPr>
          <a:xfrm>
            <a:off x="7909560" y="27889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Hoteles, habitaciones y camas</a:t>
            </a:r>
            <a:endParaRPr lang="en-US" sz="1300" dirty="0"/>
          </a:p>
        </p:txBody>
      </p:sp>
      <p:sp>
        <p:nvSpPr>
          <p:cNvPr id="25" name="e3_b"/>
          <p:cNvSpPr/>
          <p:nvPr/>
        </p:nvSpPr>
        <p:spPr>
          <a:xfrm>
            <a:off x="9756648" y="13716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6" name="e3_c"/>
          <p:cNvSpPr/>
          <p:nvPr/>
        </p:nvSpPr>
        <p:spPr>
          <a:xfrm>
            <a:off x="10296144" y="16002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27" name="e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6339" y="1790395"/>
            <a:ext cx="351130" cy="351130"/>
          </a:xfrm>
          <a:prstGeom prst="rect">
            <a:avLst/>
          </a:prstGeom>
        </p:spPr>
      </p:pic>
      <p:sp>
        <p:nvSpPr>
          <p:cNvPr id="28" name="e3_h"/>
          <p:cNvSpPr txBox="1"/>
          <p:nvPr/>
        </p:nvSpPr>
        <p:spPr>
          <a:xfrm>
            <a:off x="9848088" y="24231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Alimentación</a:t>
            </a:r>
            <a:endParaRPr lang="en-US" sz="1700" dirty="0"/>
          </a:p>
        </p:txBody>
      </p:sp>
      <p:sp>
        <p:nvSpPr>
          <p:cNvPr id="29" name="e3_d"/>
          <p:cNvSpPr txBox="1"/>
          <p:nvPr/>
        </p:nvSpPr>
        <p:spPr>
          <a:xfrm>
            <a:off x="9866376" y="27889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Comidas por escaneo de credencial</a:t>
            </a:r>
            <a:endParaRPr lang="en-US" sz="1300" dirty="0"/>
          </a:p>
        </p:txBody>
      </p:sp>
      <p:sp>
        <p:nvSpPr>
          <p:cNvPr id="30" name="e4_b"/>
          <p:cNvSpPr/>
          <p:nvPr/>
        </p:nvSpPr>
        <p:spPr>
          <a:xfrm>
            <a:off x="3886200" y="38862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31" name="e4_c"/>
          <p:cNvSpPr/>
          <p:nvPr/>
        </p:nvSpPr>
        <p:spPr>
          <a:xfrm>
            <a:off x="4425696" y="4114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2" name="e4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5891" y="4304995"/>
            <a:ext cx="351130" cy="351130"/>
          </a:xfrm>
          <a:prstGeom prst="rect">
            <a:avLst/>
          </a:prstGeom>
        </p:spPr>
      </p:pic>
      <p:sp>
        <p:nvSpPr>
          <p:cNvPr id="33" name="e4_h"/>
          <p:cNvSpPr txBox="1"/>
          <p:nvPr/>
        </p:nvSpPr>
        <p:spPr>
          <a:xfrm>
            <a:off x="3977640" y="49377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Materiales</a:t>
            </a:r>
            <a:endParaRPr lang="en-US" sz="1700" dirty="0"/>
          </a:p>
        </p:txBody>
      </p:sp>
      <p:sp>
        <p:nvSpPr>
          <p:cNvPr id="34" name="e4_d"/>
          <p:cNvSpPr txBox="1"/>
          <p:nvPr/>
        </p:nvSpPr>
        <p:spPr>
          <a:xfrm>
            <a:off x="3995928" y="5303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Entrega sin duplicados</a:t>
            </a:r>
            <a:endParaRPr lang="en-US" sz="1300" dirty="0"/>
          </a:p>
        </p:txBody>
      </p:sp>
      <p:sp>
        <p:nvSpPr>
          <p:cNvPr id="35" name="e5_b"/>
          <p:cNvSpPr/>
          <p:nvPr/>
        </p:nvSpPr>
        <p:spPr>
          <a:xfrm>
            <a:off x="5843016" y="38862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36" name="e5_c"/>
          <p:cNvSpPr/>
          <p:nvPr/>
        </p:nvSpPr>
        <p:spPr>
          <a:xfrm>
            <a:off x="6382512" y="4114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37" name="e5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707" y="4304995"/>
            <a:ext cx="351130" cy="351130"/>
          </a:xfrm>
          <a:prstGeom prst="rect">
            <a:avLst/>
          </a:prstGeom>
        </p:spPr>
      </p:pic>
      <p:sp>
        <p:nvSpPr>
          <p:cNvPr id="38" name="e5_h"/>
          <p:cNvSpPr txBox="1"/>
          <p:nvPr/>
        </p:nvSpPr>
        <p:spPr>
          <a:xfrm>
            <a:off x="5934456" y="49377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Transporte</a:t>
            </a:r>
            <a:endParaRPr lang="en-US" sz="1700" dirty="0"/>
          </a:p>
        </p:txBody>
      </p:sp>
      <p:sp>
        <p:nvSpPr>
          <p:cNvPr id="39" name="e5_d"/>
          <p:cNvSpPr txBox="1"/>
          <p:nvPr/>
        </p:nvSpPr>
        <p:spPr>
          <a:xfrm>
            <a:off x="5952744" y="5303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Viajes de llegada y salida</a:t>
            </a:r>
            <a:endParaRPr lang="en-US" sz="1300" dirty="0"/>
          </a:p>
        </p:txBody>
      </p:sp>
      <p:sp>
        <p:nvSpPr>
          <p:cNvPr id="40" name="e6_b"/>
          <p:cNvSpPr/>
          <p:nvPr/>
        </p:nvSpPr>
        <p:spPr>
          <a:xfrm>
            <a:off x="7799832" y="38862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1" name="e6_c"/>
          <p:cNvSpPr/>
          <p:nvPr/>
        </p:nvSpPr>
        <p:spPr>
          <a:xfrm>
            <a:off x="8339328" y="4114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2" name="e6_i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9523" y="4304995"/>
            <a:ext cx="351130" cy="351130"/>
          </a:xfrm>
          <a:prstGeom prst="rect">
            <a:avLst/>
          </a:prstGeom>
        </p:spPr>
      </p:pic>
      <p:sp>
        <p:nvSpPr>
          <p:cNvPr id="43" name="e6_h"/>
          <p:cNvSpPr txBox="1"/>
          <p:nvPr/>
        </p:nvSpPr>
        <p:spPr>
          <a:xfrm>
            <a:off x="7891272" y="49377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Servidores</a:t>
            </a:r>
            <a:endParaRPr lang="en-US" sz="1700" dirty="0"/>
          </a:p>
        </p:txBody>
      </p:sp>
      <p:sp>
        <p:nvSpPr>
          <p:cNvPr id="44" name="e6_d"/>
          <p:cNvSpPr txBox="1"/>
          <p:nvPr/>
        </p:nvSpPr>
        <p:spPr>
          <a:xfrm>
            <a:off x="7909560" y="5303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Comisiones y asignaciones</a:t>
            </a:r>
            <a:endParaRPr lang="en-US" sz="1300" dirty="0"/>
          </a:p>
        </p:txBody>
      </p:sp>
      <p:sp>
        <p:nvSpPr>
          <p:cNvPr id="45" name="e7_b"/>
          <p:cNvSpPr/>
          <p:nvPr/>
        </p:nvSpPr>
        <p:spPr>
          <a:xfrm>
            <a:off x="9756648" y="3886200"/>
            <a:ext cx="1810512" cy="23317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6" name="e7_c"/>
          <p:cNvSpPr/>
          <p:nvPr/>
        </p:nvSpPr>
        <p:spPr>
          <a:xfrm>
            <a:off x="10296144" y="4114800"/>
            <a:ext cx="731520" cy="7315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pic>
        <p:nvPicPr>
          <p:cNvPr id="47" name="e7_i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6339" y="4304995"/>
            <a:ext cx="351130" cy="351130"/>
          </a:xfrm>
          <a:prstGeom prst="rect">
            <a:avLst/>
          </a:prstGeom>
        </p:spPr>
      </p:pic>
      <p:sp>
        <p:nvSpPr>
          <p:cNvPr id="48" name="e7_h"/>
          <p:cNvSpPr txBox="1"/>
          <p:nvPr/>
        </p:nvSpPr>
        <p:spPr>
          <a:xfrm>
            <a:off x="9848088" y="493776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D21"/>
                </a:solidFill>
              </a:rPr>
              <a:t>Credenciales</a:t>
            </a:r>
            <a:endParaRPr lang="en-US" sz="1700" dirty="0"/>
          </a:p>
        </p:txBody>
      </p:sp>
      <p:sp>
        <p:nvSpPr>
          <p:cNvPr id="49" name="e7_d"/>
          <p:cNvSpPr txBox="1"/>
          <p:nvPr/>
        </p:nvSpPr>
        <p:spPr>
          <a:xfrm>
            <a:off x="9866376" y="5303520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69"/>
                </a:solidFill>
              </a:rPr>
              <a:t>Código para cada asistente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Caja y Contabilidad: el dinero, bajo control</a:t>
            </a:r>
            <a:endParaRPr lang="en-US" sz="3400" dirty="0"/>
          </a:p>
        </p:txBody>
      </p:sp>
      <p:sp>
        <p:nvSpPr>
          <p:cNvPr id="3" name="p0_b"/>
          <p:cNvSpPr/>
          <p:nvPr/>
        </p:nvSpPr>
        <p:spPr>
          <a:xfrm>
            <a:off x="548640" y="1371600"/>
            <a:ext cx="5422392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" name="p0_c"/>
          <p:cNvSpPr/>
          <p:nvPr/>
        </p:nvSpPr>
        <p:spPr>
          <a:xfrm>
            <a:off x="914400" y="1691640"/>
            <a:ext cx="914400" cy="9144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5" name="p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1929384"/>
            <a:ext cx="438912" cy="438912"/>
          </a:xfrm>
          <a:prstGeom prst="rect">
            <a:avLst/>
          </a:prstGeom>
        </p:spPr>
      </p:pic>
      <p:sp>
        <p:nvSpPr>
          <p:cNvPr id="6" name="p0_h"/>
          <p:cNvSpPr txBox="1"/>
          <p:nvPr/>
        </p:nvSpPr>
        <p:spPr>
          <a:xfrm>
            <a:off x="2011680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1"/>
                </a:solidFill>
              </a:rPr>
              <a:t>Caja</a:t>
            </a:r>
            <a:endParaRPr lang="en-US" sz="2800" dirty="0"/>
          </a:p>
        </p:txBody>
      </p:sp>
      <p:sp>
        <p:nvSpPr>
          <p:cNvPr id="7" name="p0_s"/>
          <p:cNvSpPr txBox="1"/>
          <p:nvPr/>
        </p:nvSpPr>
        <p:spPr>
          <a:xfrm>
            <a:off x="2011680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8B57"/>
                </a:solidFill>
              </a:rPr>
              <a:t>3 ventanas</a:t>
            </a:r>
            <a:endParaRPr lang="en-US" sz="1500" dirty="0"/>
          </a:p>
        </p:txBody>
      </p:sp>
      <p:sp>
        <p:nvSpPr>
          <p:cNvPr id="8" name="p0_c"/>
          <p:cNvSpPr txBox="1"/>
          <p:nvPr/>
        </p:nvSpPr>
        <p:spPr>
          <a:xfrm>
            <a:off x="4251960" y="181051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9" name="p0_l"/>
          <p:cNvSpPr txBox="1"/>
          <p:nvPr/>
        </p:nvSpPr>
        <p:spPr>
          <a:xfrm>
            <a:off x="960120" y="29260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Sesión de caja obligatoria para todo cobro en efectivo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Comprobantes emitidos y numerados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Revisión y aprobación de comprobantes bancarios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Cada cajero ve solo su punto de caja</a:t>
            </a:r>
            <a:endParaRPr lang="en-US" sz="2000" dirty="0"/>
          </a:p>
        </p:txBody>
      </p:sp>
      <p:sp>
        <p:nvSpPr>
          <p:cNvPr id="10" name="p1_b"/>
          <p:cNvSpPr/>
          <p:nvPr/>
        </p:nvSpPr>
        <p:spPr>
          <a:xfrm>
            <a:off x="6190488" y="1371600"/>
            <a:ext cx="5422392" cy="484632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1" name="p1_c"/>
          <p:cNvSpPr/>
          <p:nvPr/>
        </p:nvSpPr>
        <p:spPr>
          <a:xfrm>
            <a:off x="6556248" y="1691640"/>
            <a:ext cx="914400" cy="9144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12" name="p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29384"/>
            <a:ext cx="438912" cy="438912"/>
          </a:xfrm>
          <a:prstGeom prst="rect">
            <a:avLst/>
          </a:prstGeom>
        </p:spPr>
      </p:pic>
      <p:sp>
        <p:nvSpPr>
          <p:cNvPr id="13" name="p1_h"/>
          <p:cNvSpPr txBox="1"/>
          <p:nvPr/>
        </p:nvSpPr>
        <p:spPr>
          <a:xfrm>
            <a:off x="7653528" y="17373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D21"/>
                </a:solidFill>
              </a:rPr>
              <a:t>Contabilidad</a:t>
            </a:r>
            <a:endParaRPr lang="en-US" sz="2800" dirty="0"/>
          </a:p>
        </p:txBody>
      </p:sp>
      <p:sp>
        <p:nvSpPr>
          <p:cNvPr id="14" name="p1_s"/>
          <p:cNvSpPr txBox="1"/>
          <p:nvPr/>
        </p:nvSpPr>
        <p:spPr>
          <a:xfrm>
            <a:off x="7653528" y="2240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</a:rPr>
              <a:t>9 ventanas</a:t>
            </a:r>
            <a:endParaRPr lang="en-US" sz="1500" dirty="0"/>
          </a:p>
        </p:txBody>
      </p:sp>
      <p:sp>
        <p:nvSpPr>
          <p:cNvPr id="15" name="p1_c"/>
          <p:cNvSpPr txBox="1"/>
          <p:nvPr/>
        </p:nvSpPr>
        <p:spPr>
          <a:xfrm>
            <a:off x="9893808" y="1810512"/>
            <a:ext cx="141732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EN PRODUCCIÓN</a:t>
            </a:r>
            <a:endParaRPr lang="en-US" sz="1000" dirty="0"/>
          </a:p>
        </p:txBody>
      </p:sp>
      <p:sp>
        <p:nvSpPr>
          <p:cNvPr id="16" name="p1_l"/>
          <p:cNvSpPr txBox="1"/>
          <p:nvPr/>
        </p:nvSpPr>
        <p:spPr>
          <a:xfrm>
            <a:off x="6601968" y="29260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Plan de 357 cuentas y partida doble por período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Asientos automáticos desde cada cobro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Canales de cobro, cuentas bancarias y divisa del día</a:t>
            </a:r>
            <a:endParaRPr lang="en-US" sz="20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2000" dirty="0">
                <a:solidFill>
                  <a:srgbClr val="1A1D21"/>
                </a:solidFill>
              </a:rPr>
              <a:t>Reportes contables y cierre de período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Todas las áreas cobran por el mismo circuito</a:t>
            </a:r>
            <a:endParaRPr lang="en-US" sz="3400" dirty="0"/>
          </a:p>
        </p:txBody>
      </p:sp>
      <p:pic>
        <p:nvPicPr>
          <p:cNvPr id="3" name="dinero" descr="/tmp/claude-0/-home-user-encuentro/d1773a65-0d41-5ea1-89db-c3b14c6bfd53/scratchpad/deck/img/din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50383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Las áreas que vienen</a:t>
            </a:r>
            <a:endParaRPr lang="en-US" sz="3400" dirty="0"/>
          </a:p>
        </p:txBody>
      </p:sp>
      <p:sp>
        <p:nvSpPr>
          <p:cNvPr id="3" name="n0_b"/>
          <p:cNvSpPr/>
          <p:nvPr/>
        </p:nvSpPr>
        <p:spPr>
          <a:xfrm>
            <a:off x="548640" y="137160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" name="n0_c"/>
          <p:cNvSpPr/>
          <p:nvPr/>
        </p:nvSpPr>
        <p:spPr>
          <a:xfrm>
            <a:off x="822960" y="164592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5" name="n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042" y="1848002"/>
            <a:ext cx="373075" cy="373075"/>
          </a:xfrm>
          <a:prstGeom prst="rect">
            <a:avLst/>
          </a:prstGeom>
        </p:spPr>
      </p:pic>
      <p:sp>
        <p:nvSpPr>
          <p:cNvPr id="6" name="n0_h"/>
          <p:cNvSpPr txBox="1"/>
          <p:nvPr/>
        </p:nvSpPr>
        <p:spPr>
          <a:xfrm>
            <a:off x="173736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Escuela de formación</a:t>
            </a:r>
            <a:endParaRPr lang="en-US" sz="1800" dirty="0"/>
          </a:p>
        </p:txBody>
      </p:sp>
      <p:sp>
        <p:nvSpPr>
          <p:cNvPr id="7" name="n0_d"/>
          <p:cNvSpPr txBox="1"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Cursos, sesiones, inscripción y matrícula.</a:t>
            </a:r>
            <a:endParaRPr lang="en-US" sz="1400" dirty="0"/>
          </a:p>
        </p:txBody>
      </p:sp>
      <p:sp>
        <p:nvSpPr>
          <p:cNvPr id="8" name="n0_s"/>
          <p:cNvSpPr txBox="1"/>
          <p:nvPr/>
        </p:nvSpPr>
        <p:spPr>
          <a:xfrm>
            <a:off x="822960" y="318211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POR DECIDIR</a:t>
            </a:r>
            <a:endParaRPr lang="en-US" sz="1000" dirty="0"/>
          </a:p>
        </p:txBody>
      </p:sp>
      <p:sp>
        <p:nvSpPr>
          <p:cNvPr id="9" name="n0_w"/>
          <p:cNvSpPr txBox="1"/>
          <p:nvPr/>
        </p:nvSpPr>
        <p:spPr>
          <a:xfrm>
            <a:off x="251460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Espera D-7</a:t>
            </a:r>
            <a:endParaRPr lang="en-US" sz="1200" dirty="0"/>
          </a:p>
        </p:txBody>
      </p:sp>
      <p:sp>
        <p:nvSpPr>
          <p:cNvPr id="10" name="n1_b"/>
          <p:cNvSpPr/>
          <p:nvPr/>
        </p:nvSpPr>
        <p:spPr>
          <a:xfrm>
            <a:off x="4297680" y="137160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1" name="n1_c"/>
          <p:cNvSpPr/>
          <p:nvPr/>
        </p:nvSpPr>
        <p:spPr>
          <a:xfrm>
            <a:off x="4572000" y="1645920"/>
            <a:ext cx="777240" cy="777240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2" name="n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4082" y="1848002"/>
            <a:ext cx="373075" cy="373075"/>
          </a:xfrm>
          <a:prstGeom prst="rect">
            <a:avLst/>
          </a:prstGeom>
        </p:spPr>
      </p:pic>
      <p:sp>
        <p:nvSpPr>
          <p:cNvPr id="13" name="n1_h"/>
          <p:cNvSpPr txBox="1"/>
          <p:nvPr/>
        </p:nvSpPr>
        <p:spPr>
          <a:xfrm>
            <a:off x="548640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Salones y grupos de oración</a:t>
            </a:r>
            <a:endParaRPr lang="en-US" sz="1800" dirty="0"/>
          </a:p>
        </p:txBody>
      </p:sp>
      <p:sp>
        <p:nvSpPr>
          <p:cNvPr id="14" name="n1_d"/>
          <p:cNvSpPr txBox="1"/>
          <p:nvPr/>
        </p:nvSpPr>
        <p:spPr>
          <a:xfrm>
            <a:off x="457200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Reservas sin solapamientos y grupos permanentes.</a:t>
            </a:r>
            <a:endParaRPr lang="en-US" sz="1400" dirty="0"/>
          </a:p>
        </p:txBody>
      </p:sp>
      <p:sp>
        <p:nvSpPr>
          <p:cNvPr id="15" name="n1_s"/>
          <p:cNvSpPr txBox="1"/>
          <p:nvPr/>
        </p:nvSpPr>
        <p:spPr>
          <a:xfrm>
            <a:off x="4572000" y="318211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POR DECIDIR</a:t>
            </a:r>
            <a:endParaRPr lang="en-US" sz="1000" dirty="0"/>
          </a:p>
        </p:txBody>
      </p:sp>
      <p:sp>
        <p:nvSpPr>
          <p:cNvPr id="16" name="n1_w"/>
          <p:cNvSpPr txBox="1"/>
          <p:nvPr/>
        </p:nvSpPr>
        <p:spPr>
          <a:xfrm>
            <a:off x="626364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Espera D-6</a:t>
            </a:r>
            <a:endParaRPr lang="en-US" sz="1200" dirty="0"/>
          </a:p>
        </p:txBody>
      </p:sp>
      <p:sp>
        <p:nvSpPr>
          <p:cNvPr id="17" name="n2_b"/>
          <p:cNvSpPr/>
          <p:nvPr/>
        </p:nvSpPr>
        <p:spPr>
          <a:xfrm>
            <a:off x="8046720" y="137160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8" name="n2_c"/>
          <p:cNvSpPr/>
          <p:nvPr/>
        </p:nvSpPr>
        <p:spPr>
          <a:xfrm>
            <a:off x="8321040" y="1645920"/>
            <a:ext cx="777240" cy="7772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19" name="n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3122" y="1848002"/>
            <a:ext cx="373075" cy="373075"/>
          </a:xfrm>
          <a:prstGeom prst="rect">
            <a:avLst/>
          </a:prstGeom>
        </p:spPr>
      </p:pic>
      <p:sp>
        <p:nvSpPr>
          <p:cNvPr id="20" name="n2_h"/>
          <p:cNvSpPr txBox="1"/>
          <p:nvPr/>
        </p:nvSpPr>
        <p:spPr>
          <a:xfrm>
            <a:off x="9235440" y="16459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Cafetería y tienda</a:t>
            </a:r>
            <a:endParaRPr lang="en-US" sz="1800" dirty="0"/>
          </a:p>
        </p:txBody>
      </p:sp>
      <p:sp>
        <p:nvSpPr>
          <p:cNvPr id="21" name="n2_d"/>
          <p:cNvSpPr txBox="1"/>
          <p:nvPr/>
        </p:nvSpPr>
        <p:spPr>
          <a:xfrm>
            <a:off x="832104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Ventas con cobro, caja y asiento contable.</a:t>
            </a:r>
            <a:endParaRPr lang="en-US" sz="1400" dirty="0"/>
          </a:p>
        </p:txBody>
      </p:sp>
      <p:sp>
        <p:nvSpPr>
          <p:cNvPr id="22" name="n2_s"/>
          <p:cNvSpPr txBox="1"/>
          <p:nvPr/>
        </p:nvSpPr>
        <p:spPr>
          <a:xfrm>
            <a:off x="8321040" y="318211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POR DECIDIR</a:t>
            </a:r>
            <a:endParaRPr lang="en-US" sz="1000" dirty="0"/>
          </a:p>
        </p:txBody>
      </p:sp>
      <p:sp>
        <p:nvSpPr>
          <p:cNvPr id="23" name="n2_w"/>
          <p:cNvSpPr txBox="1"/>
          <p:nvPr/>
        </p:nvSpPr>
        <p:spPr>
          <a:xfrm>
            <a:off x="1001268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Espera D-8</a:t>
            </a:r>
            <a:endParaRPr lang="en-US" sz="1200" dirty="0"/>
          </a:p>
        </p:txBody>
      </p:sp>
      <p:sp>
        <p:nvSpPr>
          <p:cNvPr id="24" name="n3_b"/>
          <p:cNvSpPr/>
          <p:nvPr/>
        </p:nvSpPr>
        <p:spPr>
          <a:xfrm>
            <a:off x="548640" y="384048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5" name="n3_c"/>
          <p:cNvSpPr/>
          <p:nvPr/>
        </p:nvSpPr>
        <p:spPr>
          <a:xfrm>
            <a:off x="822960" y="4114800"/>
            <a:ext cx="777240" cy="777240"/>
          </a:xfrm>
          <a:prstGeom prst="ellipse">
            <a:avLst/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pic>
        <p:nvPicPr>
          <p:cNvPr id="26" name="n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42" y="4316882"/>
            <a:ext cx="373075" cy="373075"/>
          </a:xfrm>
          <a:prstGeom prst="rect">
            <a:avLst/>
          </a:prstGeom>
        </p:spPr>
      </p:pic>
      <p:sp>
        <p:nvSpPr>
          <p:cNvPr id="27" name="n3_h"/>
          <p:cNvSpPr txBox="1"/>
          <p:nvPr/>
        </p:nvSpPr>
        <p:spPr>
          <a:xfrm>
            <a:off x="173736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Ofrendas y donaciones</a:t>
            </a:r>
            <a:endParaRPr lang="en-US" sz="1800" dirty="0"/>
          </a:p>
        </p:txBody>
      </p:sp>
      <p:sp>
        <p:nvSpPr>
          <p:cNvPr id="28" name="n3_d"/>
          <p:cNvSpPr txBox="1"/>
          <p:nvPr/>
        </p:nvSpPr>
        <p:spPr>
          <a:xfrm>
            <a:off x="82296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Monetarias y en especie.</a:t>
            </a:r>
            <a:endParaRPr lang="en-US" sz="1400" dirty="0"/>
          </a:p>
        </p:txBody>
      </p:sp>
      <p:sp>
        <p:nvSpPr>
          <p:cNvPr id="29" name="n3_s"/>
          <p:cNvSpPr txBox="1"/>
          <p:nvPr/>
        </p:nvSpPr>
        <p:spPr>
          <a:xfrm>
            <a:off x="822960" y="5650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POR DECIDIR</a:t>
            </a:r>
            <a:endParaRPr lang="en-US" sz="1000" dirty="0"/>
          </a:p>
        </p:txBody>
      </p:sp>
      <p:sp>
        <p:nvSpPr>
          <p:cNvPr id="30" name="n3_w"/>
          <p:cNvSpPr txBox="1"/>
          <p:nvPr/>
        </p:nvSpPr>
        <p:spPr>
          <a:xfrm>
            <a:off x="2514600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Política de valoración</a:t>
            </a:r>
            <a:endParaRPr lang="en-US" sz="1200" dirty="0"/>
          </a:p>
        </p:txBody>
      </p:sp>
      <p:sp>
        <p:nvSpPr>
          <p:cNvPr id="31" name="n4_b"/>
          <p:cNvSpPr/>
          <p:nvPr/>
        </p:nvSpPr>
        <p:spPr>
          <a:xfrm>
            <a:off x="4297680" y="384048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32" name="n4_c"/>
          <p:cNvSpPr/>
          <p:nvPr/>
        </p:nvSpPr>
        <p:spPr>
          <a:xfrm>
            <a:off x="4572000" y="4114800"/>
            <a:ext cx="777240" cy="777240"/>
          </a:xfrm>
          <a:prstGeom prst="ellipse">
            <a:avLst/>
          </a:prstGeom>
          <a:solidFill>
            <a:srgbClr val="4F6D8A"/>
          </a:solidFill>
          <a:ln w="12700">
            <a:solidFill>
              <a:srgbClr val="4F6D8A"/>
            </a:solidFill>
            <a:prstDash val="solid"/>
          </a:ln>
        </p:spPr>
      </p:sp>
      <p:pic>
        <p:nvPicPr>
          <p:cNvPr id="33" name="n4_i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4082" y="4316882"/>
            <a:ext cx="373075" cy="373075"/>
          </a:xfrm>
          <a:prstGeom prst="rect">
            <a:avLst/>
          </a:prstGeom>
        </p:spPr>
      </p:pic>
      <p:sp>
        <p:nvSpPr>
          <p:cNvPr id="34" name="n4_h"/>
          <p:cNvSpPr txBox="1"/>
          <p:nvPr/>
        </p:nvSpPr>
        <p:spPr>
          <a:xfrm>
            <a:off x="548640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Gastos y proveedores</a:t>
            </a:r>
            <a:endParaRPr lang="en-US" sz="1800" dirty="0"/>
          </a:p>
        </p:txBody>
      </p:sp>
      <p:sp>
        <p:nvSpPr>
          <p:cNvPr id="35" name="n4_d"/>
          <p:cNvSpPr txBox="1"/>
          <p:nvPr/>
        </p:nvSpPr>
        <p:spPr>
          <a:xfrm>
            <a:off x="45720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Compras, servicios básicos, cuentas por pagar y obras.</a:t>
            </a:r>
            <a:endParaRPr lang="en-US" sz="1400" dirty="0"/>
          </a:p>
        </p:txBody>
      </p:sp>
      <p:sp>
        <p:nvSpPr>
          <p:cNvPr id="36" name="n4_s"/>
          <p:cNvSpPr txBox="1"/>
          <p:nvPr/>
        </p:nvSpPr>
        <p:spPr>
          <a:xfrm>
            <a:off x="4572000" y="565099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C4249"/>
                </a:solidFill>
              </a:rPr>
              <a:t>PLANIFICADO</a:t>
            </a:r>
            <a:endParaRPr lang="en-US" sz="1000" dirty="0"/>
          </a:p>
        </p:txBody>
      </p:sp>
      <p:sp>
        <p:nvSpPr>
          <p:cNvPr id="37" name="n4_w"/>
          <p:cNvSpPr txBox="1"/>
          <p:nvPr/>
        </p:nvSpPr>
        <p:spPr>
          <a:xfrm>
            <a:off x="6263640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Fase 6</a:t>
            </a:r>
            <a:endParaRPr lang="en-US" sz="1200" dirty="0"/>
          </a:p>
        </p:txBody>
      </p:sp>
      <p:sp>
        <p:nvSpPr>
          <p:cNvPr id="38" name="n5_b"/>
          <p:cNvSpPr/>
          <p:nvPr/>
        </p:nvSpPr>
        <p:spPr>
          <a:xfrm>
            <a:off x="8046720" y="3840480"/>
            <a:ext cx="3529584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39" name="n5_c"/>
          <p:cNvSpPr/>
          <p:nvPr/>
        </p:nvSpPr>
        <p:spPr>
          <a:xfrm>
            <a:off x="8321040" y="4114800"/>
            <a:ext cx="777240" cy="777240"/>
          </a:xfrm>
          <a:prstGeom prst="ellipse">
            <a:avLst/>
          </a:prstGeom>
          <a:solidFill>
            <a:srgbClr val="4F6D8A"/>
          </a:solidFill>
          <a:ln w="12700">
            <a:solidFill>
              <a:srgbClr val="4F6D8A"/>
            </a:solidFill>
            <a:prstDash val="solid"/>
          </a:ln>
        </p:spPr>
      </p:sp>
      <p:pic>
        <p:nvPicPr>
          <p:cNvPr id="40" name="n5_i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3122" y="4316882"/>
            <a:ext cx="373075" cy="373075"/>
          </a:xfrm>
          <a:prstGeom prst="rect">
            <a:avLst/>
          </a:prstGeom>
        </p:spPr>
      </p:pic>
      <p:sp>
        <p:nvSpPr>
          <p:cNvPr id="41" name="n5_h"/>
          <p:cNvSpPr txBox="1"/>
          <p:nvPr/>
        </p:nvSpPr>
        <p:spPr>
          <a:xfrm>
            <a:off x="9235440" y="41148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Empleados</a:t>
            </a:r>
            <a:endParaRPr lang="en-US" sz="1800" dirty="0"/>
          </a:p>
        </p:txBody>
      </p:sp>
      <p:sp>
        <p:nvSpPr>
          <p:cNvPr id="42" name="n5_d"/>
          <p:cNvSpPr txBox="1"/>
          <p:nvPr/>
        </p:nvSpPr>
        <p:spPr>
          <a:xfrm>
            <a:off x="832104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Personal y planilla. Aún no está en el mapa.</a:t>
            </a:r>
            <a:endParaRPr lang="en-US" sz="1400" dirty="0"/>
          </a:p>
        </p:txBody>
      </p:sp>
      <p:sp>
        <p:nvSpPr>
          <p:cNvPr id="43" name="n5_s"/>
          <p:cNvSpPr txBox="1"/>
          <p:nvPr/>
        </p:nvSpPr>
        <p:spPr>
          <a:xfrm>
            <a:off x="8321040" y="5650992"/>
            <a:ext cx="1600200" cy="274320"/>
          </a:xfrm>
          <a:prstGeom prst="roundRect">
            <a:avLst>
              <a:gd name="adj" fmla="val 20000"/>
            </a:avLst>
          </a:prstGeom>
          <a:solidFill>
            <a:srgbClr val="F1ECF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FA0"/>
                </a:solidFill>
              </a:rPr>
              <a:t>PROPUESTA NUEVA</a:t>
            </a:r>
            <a:endParaRPr lang="en-US" sz="1000" dirty="0"/>
          </a:p>
        </p:txBody>
      </p:sp>
      <p:sp>
        <p:nvSpPr>
          <p:cNvPr id="44" name="n5_w"/>
          <p:cNvSpPr txBox="1"/>
          <p:nvPr/>
        </p:nvSpPr>
        <p:spPr>
          <a:xfrm>
            <a:off x="10012680" y="56509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9"/>
                </a:solidFill>
              </a:rPr>
              <a:t>Definir alcance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La hoja de ruta: 7 fases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1234440" y="2743200"/>
            <a:ext cx="9875520" cy="0"/>
          </a:xfrm>
          <a:prstGeom prst="line">
            <a:avLst/>
          </a:prstGeom>
          <a:noFill/>
          <a:ln w="38100">
            <a:solidFill>
              <a:srgbClr val="CDD2D8"/>
            </a:solidFill>
            <a:prstDash val="dash"/>
          </a:ln>
        </p:spPr>
      </p:sp>
      <p:sp>
        <p:nvSpPr>
          <p:cNvPr id="4" name="prog"/>
          <p:cNvSpPr/>
          <p:nvPr/>
        </p:nvSpPr>
        <p:spPr>
          <a:xfrm>
            <a:off x="1234440" y="2743200"/>
            <a:ext cx="4937760" cy="0"/>
          </a:xfrm>
          <a:prstGeom prst="line">
            <a:avLst/>
          </a:prstGeom>
          <a:noFill/>
          <a:ln w="63500">
            <a:solidFill>
              <a:srgbClr val="2E8B57"/>
            </a:solidFill>
            <a:prstDash val="solid"/>
          </a:ln>
        </p:spPr>
      </p:sp>
      <p:sp>
        <p:nvSpPr>
          <p:cNvPr id="5" name="f0_c"/>
          <p:cNvSpPr/>
          <p:nvPr/>
        </p:nvSpPr>
        <p:spPr>
          <a:xfrm>
            <a:off x="777240" y="2286000"/>
            <a:ext cx="914400" cy="914400"/>
          </a:xfrm>
          <a:prstGeom prst="ellipse">
            <a:avLst/>
          </a:prstGeom>
          <a:solidFill>
            <a:srgbClr val="2E8B5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f0_n"/>
          <p:cNvSpPr txBox="1"/>
          <p:nvPr/>
        </p:nvSpPr>
        <p:spPr>
          <a:xfrm>
            <a:off x="7772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7" name="f0_f"/>
          <p:cNvSpPr txBox="1"/>
          <p:nvPr/>
        </p:nvSpPr>
        <p:spPr>
          <a:xfrm>
            <a:off x="4572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</a:rPr>
              <a:t>FASE 0</a:t>
            </a:r>
            <a:endParaRPr lang="en-US" sz="1200" dirty="0"/>
          </a:p>
        </p:txBody>
      </p:sp>
      <p:sp>
        <p:nvSpPr>
          <p:cNvPr id="8" name="f0_t"/>
          <p:cNvSpPr txBox="1"/>
          <p:nvPr/>
        </p:nvSpPr>
        <p:spPr>
          <a:xfrm>
            <a:off x="45720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Rescate documental</a:t>
            </a:r>
            <a:endParaRPr lang="en-US" sz="1500" dirty="0"/>
          </a:p>
        </p:txBody>
      </p:sp>
      <p:sp>
        <p:nvSpPr>
          <p:cNvPr id="9" name="f0_s"/>
          <p:cNvSpPr txBox="1"/>
          <p:nvPr/>
        </p:nvSpPr>
        <p:spPr>
          <a:xfrm>
            <a:off x="59436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CERRADA</a:t>
            </a:r>
            <a:endParaRPr lang="en-US" sz="1000" dirty="0"/>
          </a:p>
        </p:txBody>
      </p:sp>
      <p:sp>
        <p:nvSpPr>
          <p:cNvPr id="10" name="f1_c"/>
          <p:cNvSpPr/>
          <p:nvPr/>
        </p:nvSpPr>
        <p:spPr>
          <a:xfrm>
            <a:off x="2423160" y="2286000"/>
            <a:ext cx="914400" cy="914400"/>
          </a:xfrm>
          <a:prstGeom prst="ellipse">
            <a:avLst/>
          </a:prstGeom>
          <a:solidFill>
            <a:srgbClr val="2E8B5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1" name="f1_n"/>
          <p:cNvSpPr txBox="1"/>
          <p:nvPr/>
        </p:nvSpPr>
        <p:spPr>
          <a:xfrm>
            <a:off x="24231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1</a:t>
            </a:r>
            <a:endParaRPr lang="en-US" sz="3000" dirty="0"/>
          </a:p>
        </p:txBody>
      </p:sp>
      <p:sp>
        <p:nvSpPr>
          <p:cNvPr id="12" name="f1_f"/>
          <p:cNvSpPr txBox="1"/>
          <p:nvPr/>
        </p:nvSpPr>
        <p:spPr>
          <a:xfrm>
            <a:off x="210312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</a:rPr>
              <a:t>FASE 1</a:t>
            </a:r>
            <a:endParaRPr lang="en-US" sz="1200" dirty="0"/>
          </a:p>
        </p:txBody>
      </p:sp>
      <p:sp>
        <p:nvSpPr>
          <p:cNvPr id="13" name="f1_t"/>
          <p:cNvSpPr txBox="1"/>
          <p:nvPr/>
        </p:nvSpPr>
        <p:spPr>
          <a:xfrm>
            <a:off x="210312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Núcleo e institucional</a:t>
            </a:r>
            <a:endParaRPr lang="en-US" sz="1500" dirty="0"/>
          </a:p>
        </p:txBody>
      </p:sp>
      <p:sp>
        <p:nvSpPr>
          <p:cNvPr id="14" name="f1_s"/>
          <p:cNvSpPr txBox="1"/>
          <p:nvPr/>
        </p:nvSpPr>
        <p:spPr>
          <a:xfrm>
            <a:off x="224028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CERRADA</a:t>
            </a:r>
            <a:endParaRPr lang="en-US" sz="1000" dirty="0"/>
          </a:p>
        </p:txBody>
      </p:sp>
      <p:sp>
        <p:nvSpPr>
          <p:cNvPr id="15" name="f2_c"/>
          <p:cNvSpPr/>
          <p:nvPr/>
        </p:nvSpPr>
        <p:spPr>
          <a:xfrm>
            <a:off x="4069080" y="2286000"/>
            <a:ext cx="914400" cy="914400"/>
          </a:xfrm>
          <a:prstGeom prst="ellipse">
            <a:avLst/>
          </a:prstGeom>
          <a:solidFill>
            <a:srgbClr val="2E8B5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f2_n"/>
          <p:cNvSpPr txBox="1"/>
          <p:nvPr/>
        </p:nvSpPr>
        <p:spPr>
          <a:xfrm>
            <a:off x="406908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7" name="f2_f"/>
          <p:cNvSpPr txBox="1"/>
          <p:nvPr/>
        </p:nvSpPr>
        <p:spPr>
          <a:xfrm>
            <a:off x="374904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</a:rPr>
              <a:t>FASE 2</a:t>
            </a:r>
            <a:endParaRPr lang="en-US" sz="1200" dirty="0"/>
          </a:p>
        </p:txBody>
      </p:sp>
      <p:sp>
        <p:nvSpPr>
          <p:cNvPr id="18" name="f2_t"/>
          <p:cNvSpPr txBox="1"/>
          <p:nvPr/>
        </p:nvSpPr>
        <p:spPr>
          <a:xfrm>
            <a:off x="374904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Contabilidad institucional</a:t>
            </a:r>
            <a:endParaRPr lang="en-US" sz="1500" dirty="0"/>
          </a:p>
        </p:txBody>
      </p:sp>
      <p:sp>
        <p:nvSpPr>
          <p:cNvPr id="19" name="f2_s"/>
          <p:cNvSpPr txBox="1"/>
          <p:nvPr/>
        </p:nvSpPr>
        <p:spPr>
          <a:xfrm>
            <a:off x="388620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CERRADA</a:t>
            </a:r>
            <a:endParaRPr lang="en-US" sz="1000" dirty="0"/>
          </a:p>
        </p:txBody>
      </p:sp>
      <p:sp>
        <p:nvSpPr>
          <p:cNvPr id="20" name="f3_c"/>
          <p:cNvSpPr/>
          <p:nvPr/>
        </p:nvSpPr>
        <p:spPr>
          <a:xfrm>
            <a:off x="5715000" y="2286000"/>
            <a:ext cx="914400" cy="914400"/>
          </a:xfrm>
          <a:prstGeom prst="ellipse">
            <a:avLst/>
          </a:prstGeom>
          <a:solidFill>
            <a:srgbClr val="2E8B57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f3_n"/>
          <p:cNvSpPr txBox="1"/>
          <p:nvPr/>
        </p:nvSpPr>
        <p:spPr>
          <a:xfrm>
            <a:off x="571500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22" name="f3_f"/>
          <p:cNvSpPr txBox="1"/>
          <p:nvPr/>
        </p:nvSpPr>
        <p:spPr>
          <a:xfrm>
            <a:off x="539496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2E8B57"/>
                </a:solidFill>
              </a:rPr>
              <a:t>FASE 3</a:t>
            </a:r>
            <a:endParaRPr lang="en-US" sz="1200" dirty="0"/>
          </a:p>
        </p:txBody>
      </p:sp>
      <p:sp>
        <p:nvSpPr>
          <p:cNvPr id="23" name="f3_t"/>
          <p:cNvSpPr txBox="1"/>
          <p:nvPr/>
        </p:nvSpPr>
        <p:spPr>
          <a:xfrm>
            <a:off x="539496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El Encuentro completo</a:t>
            </a:r>
            <a:endParaRPr lang="en-US" sz="1500" dirty="0"/>
          </a:p>
        </p:txBody>
      </p:sp>
      <p:sp>
        <p:nvSpPr>
          <p:cNvPr id="24" name="f3_s"/>
          <p:cNvSpPr txBox="1"/>
          <p:nvPr/>
        </p:nvSpPr>
        <p:spPr>
          <a:xfrm>
            <a:off x="553212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3F4E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B5E2B"/>
                </a:solidFill>
              </a:rPr>
              <a:t>CERRADA</a:t>
            </a:r>
            <a:endParaRPr lang="en-US" sz="1000" dirty="0"/>
          </a:p>
        </p:txBody>
      </p:sp>
      <p:sp>
        <p:nvSpPr>
          <p:cNvPr id="25" name="f4_c"/>
          <p:cNvSpPr/>
          <p:nvPr/>
        </p:nvSpPr>
        <p:spPr>
          <a:xfrm>
            <a:off x="7360920" y="2286000"/>
            <a:ext cx="914400" cy="914400"/>
          </a:xfrm>
          <a:prstGeom prst="ellipse">
            <a:avLst/>
          </a:prstGeom>
          <a:solidFill>
            <a:srgbClr val="E0A52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6" name="f4_n"/>
          <p:cNvSpPr txBox="1"/>
          <p:nvPr/>
        </p:nvSpPr>
        <p:spPr>
          <a:xfrm>
            <a:off x="73609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238"/>
                </a:solidFill>
              </a:rPr>
              <a:t>4</a:t>
            </a:r>
            <a:endParaRPr lang="en-US" sz="3000" dirty="0"/>
          </a:p>
        </p:txBody>
      </p:sp>
      <p:sp>
        <p:nvSpPr>
          <p:cNvPr id="27" name="f4_f"/>
          <p:cNvSpPr txBox="1"/>
          <p:nvPr/>
        </p:nvSpPr>
        <p:spPr>
          <a:xfrm>
            <a:off x="704088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4A05"/>
                </a:solidFill>
              </a:rPr>
              <a:t>FASE 4</a:t>
            </a:r>
            <a:endParaRPr lang="en-US" sz="1200" dirty="0"/>
          </a:p>
        </p:txBody>
      </p:sp>
      <p:sp>
        <p:nvSpPr>
          <p:cNvPr id="28" name="f4_t"/>
          <p:cNvSpPr txBox="1"/>
          <p:nvPr/>
        </p:nvSpPr>
        <p:spPr>
          <a:xfrm>
            <a:off x="704088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Salones, grupos y formación</a:t>
            </a:r>
            <a:endParaRPr lang="en-US" sz="1500" dirty="0"/>
          </a:p>
        </p:txBody>
      </p:sp>
      <p:sp>
        <p:nvSpPr>
          <p:cNvPr id="29" name="f4_s"/>
          <p:cNvSpPr txBox="1"/>
          <p:nvPr/>
        </p:nvSpPr>
        <p:spPr>
          <a:xfrm>
            <a:off x="717804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BLOQUEADA</a:t>
            </a:r>
            <a:endParaRPr lang="en-US" sz="1000" dirty="0"/>
          </a:p>
        </p:txBody>
      </p:sp>
      <p:sp>
        <p:nvSpPr>
          <p:cNvPr id="30" name="f5_c"/>
          <p:cNvSpPr/>
          <p:nvPr/>
        </p:nvSpPr>
        <p:spPr>
          <a:xfrm>
            <a:off x="9006840" y="2286000"/>
            <a:ext cx="914400" cy="914400"/>
          </a:xfrm>
          <a:prstGeom prst="ellipse">
            <a:avLst/>
          </a:prstGeom>
          <a:solidFill>
            <a:srgbClr val="E0A526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1" name="f5_n"/>
          <p:cNvSpPr txBox="1"/>
          <p:nvPr/>
        </p:nvSpPr>
        <p:spPr>
          <a:xfrm>
            <a:off x="90068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2238"/>
                </a:solidFill>
              </a:rPr>
              <a:t>5</a:t>
            </a:r>
            <a:endParaRPr lang="en-US" sz="3000" dirty="0"/>
          </a:p>
        </p:txBody>
      </p:sp>
      <p:sp>
        <p:nvSpPr>
          <p:cNvPr id="32" name="f5_f"/>
          <p:cNvSpPr txBox="1"/>
          <p:nvPr/>
        </p:nvSpPr>
        <p:spPr>
          <a:xfrm>
            <a:off x="868680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6B4A05"/>
                </a:solidFill>
              </a:rPr>
              <a:t>FASE 5</a:t>
            </a:r>
            <a:endParaRPr lang="en-US" sz="1200" dirty="0"/>
          </a:p>
        </p:txBody>
      </p:sp>
      <p:sp>
        <p:nvSpPr>
          <p:cNvPr id="33" name="f5_t"/>
          <p:cNvSpPr txBox="1"/>
          <p:nvPr/>
        </p:nvSpPr>
        <p:spPr>
          <a:xfrm>
            <a:off x="868680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Ofrendas, tienda y cafetería</a:t>
            </a:r>
            <a:endParaRPr lang="en-US" sz="1500" dirty="0"/>
          </a:p>
        </p:txBody>
      </p:sp>
      <p:sp>
        <p:nvSpPr>
          <p:cNvPr id="34" name="f5_s"/>
          <p:cNvSpPr txBox="1"/>
          <p:nvPr/>
        </p:nvSpPr>
        <p:spPr>
          <a:xfrm>
            <a:off x="882396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FBF2D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6B4A05"/>
                </a:solidFill>
              </a:rPr>
              <a:t>BLOQUEADA</a:t>
            </a:r>
            <a:endParaRPr lang="en-US" sz="1000" dirty="0"/>
          </a:p>
        </p:txBody>
      </p:sp>
      <p:sp>
        <p:nvSpPr>
          <p:cNvPr id="35" name="f6_c"/>
          <p:cNvSpPr/>
          <p:nvPr/>
        </p:nvSpPr>
        <p:spPr>
          <a:xfrm>
            <a:off x="10652760" y="2286000"/>
            <a:ext cx="914400" cy="914400"/>
          </a:xfrm>
          <a:prstGeom prst="ellipse">
            <a:avLst/>
          </a:prstGeom>
          <a:solidFill>
            <a:srgbClr val="80868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6" name="f6_n"/>
          <p:cNvSpPr txBox="1"/>
          <p:nvPr/>
        </p:nvSpPr>
        <p:spPr>
          <a:xfrm>
            <a:off x="106527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6</a:t>
            </a:r>
            <a:endParaRPr lang="en-US" sz="3000" dirty="0"/>
          </a:p>
        </p:txBody>
      </p:sp>
      <p:sp>
        <p:nvSpPr>
          <p:cNvPr id="37" name="f6_f"/>
          <p:cNvSpPr txBox="1"/>
          <p:nvPr/>
        </p:nvSpPr>
        <p:spPr>
          <a:xfrm>
            <a:off x="10332720" y="3383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80868F"/>
                </a:solidFill>
              </a:rPr>
              <a:t>FASE 6</a:t>
            </a:r>
            <a:endParaRPr lang="en-US" sz="1200" dirty="0"/>
          </a:p>
        </p:txBody>
      </p:sp>
      <p:sp>
        <p:nvSpPr>
          <p:cNvPr id="38" name="f6_t"/>
          <p:cNvSpPr txBox="1"/>
          <p:nvPr/>
        </p:nvSpPr>
        <p:spPr>
          <a:xfrm>
            <a:off x="10332720" y="370332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D21"/>
                </a:solidFill>
              </a:rPr>
              <a:t>Operaciones y gastos</a:t>
            </a:r>
            <a:endParaRPr lang="en-US" sz="1500" dirty="0"/>
          </a:p>
        </p:txBody>
      </p:sp>
      <p:sp>
        <p:nvSpPr>
          <p:cNvPr id="39" name="f6_s"/>
          <p:cNvSpPr txBox="1"/>
          <p:nvPr/>
        </p:nvSpPr>
        <p:spPr>
          <a:xfrm>
            <a:off x="10469880" y="4526280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EF0F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C4249"/>
                </a:solidFill>
              </a:rPr>
              <a:t>PENDIENTE</a:t>
            </a:r>
            <a:endParaRPr lang="en-US" sz="1000" dirty="0"/>
          </a:p>
        </p:txBody>
      </p:sp>
      <p:sp>
        <p:nvSpPr>
          <p:cNvPr id="40" name="hoy_b"/>
          <p:cNvSpPr/>
          <p:nvPr/>
        </p:nvSpPr>
        <p:spPr>
          <a:xfrm>
            <a:off x="5852160" y="1463040"/>
            <a:ext cx="640080" cy="365760"/>
          </a:xfrm>
          <a:prstGeom prst="roundRect">
            <a:avLst>
              <a:gd name="adj" fmla="val 20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hoy_t"/>
          <p:cNvSpPr txBox="1"/>
          <p:nvPr/>
        </p:nvSpPr>
        <p:spPr>
          <a:xfrm>
            <a:off x="585216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HOY</a:t>
            </a:r>
            <a:endParaRPr lang="en-US" sz="1300" dirty="0"/>
          </a:p>
        </p:txBody>
      </p:sp>
      <p:sp>
        <p:nvSpPr>
          <p:cNvPr id="42" name="rm_b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E6EDF5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3" name="rm_t"/>
          <p:cNvSpPr txBox="1"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5F"/>
                </a:solidFill>
              </a:rPr>
              <a:t>El orden es deliberado. </a:t>
            </a:r>
            <a:pPr indent="0" marL="0">
              <a:buNone/>
            </a:pPr>
            <a:r>
              <a:rPr lang="en-US" sz="1600" dirty="0">
                <a:solidFill>
                  <a:srgbClr val="1A1D21"/>
                </a:solidFill>
              </a:rPr>
              <a:t>El núcleo se validó primero, con poca superficie y sin urgencia; el Encuentro llegó después sobre una base probada. Las fases 4 y 5 no esperan desarrollo: esperan definiciones.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Quién ve qué: permisos por ámbito</a:t>
            </a:r>
            <a:endParaRPr lang="en-US" sz="3400" dirty="0"/>
          </a:p>
        </p:txBody>
      </p:sp>
      <p:pic>
        <p:nvPicPr>
          <p:cNvPr id="3" name="amb" descr="/tmp/claude-0/-home-user-encuentro/d1773a65-0d41-5ea1-89db-c3b14c6bfd53/scratchpad/deck/img/ambi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937760" cy="4937760"/>
          </a:xfrm>
          <a:prstGeom prst="rect">
            <a:avLst/>
          </a:prstGeom>
        </p:spPr>
      </p:pic>
      <p:sp>
        <p:nvSpPr>
          <p:cNvPr id="4" name="a0_b"/>
          <p:cNvSpPr/>
          <p:nvPr/>
        </p:nvSpPr>
        <p:spPr>
          <a:xfrm>
            <a:off x="5943600" y="14630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5" name="a0_d"/>
          <p:cNvSpPr/>
          <p:nvPr/>
        </p:nvSpPr>
        <p:spPr>
          <a:xfrm>
            <a:off x="6172200" y="1764792"/>
            <a:ext cx="36576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a0_t"/>
          <p:cNvSpPr txBox="1"/>
          <p:nvPr/>
        </p:nvSpPr>
        <p:spPr>
          <a:xfrm>
            <a:off x="6720840" y="1572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GLOBAL</a:t>
            </a:r>
            <a:endParaRPr lang="en-US" sz="1800" dirty="0"/>
          </a:p>
        </p:txBody>
      </p:sp>
      <p:sp>
        <p:nvSpPr>
          <p:cNvPr id="7" name="a0_x"/>
          <p:cNvSpPr txBox="1"/>
          <p:nvPr/>
        </p:nvSpPr>
        <p:spPr>
          <a:xfrm>
            <a:off x="6720840" y="1938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Toda la institución</a:t>
            </a:r>
            <a:endParaRPr lang="en-US" sz="1400" dirty="0"/>
          </a:p>
        </p:txBody>
      </p:sp>
      <p:sp>
        <p:nvSpPr>
          <p:cNvPr id="8" name="a0_r"/>
          <p:cNvSpPr txBox="1"/>
          <p:nvPr/>
        </p:nvSpPr>
        <p:spPr>
          <a:xfrm>
            <a:off x="9052560" y="1572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Admin master, Contabilidad</a:t>
            </a:r>
            <a:endParaRPr lang="en-US" sz="1400" dirty="0"/>
          </a:p>
        </p:txBody>
      </p:sp>
      <p:sp>
        <p:nvSpPr>
          <p:cNvPr id="9" name="a1_b"/>
          <p:cNvSpPr/>
          <p:nvPr/>
        </p:nvSpPr>
        <p:spPr>
          <a:xfrm>
            <a:off x="5943600" y="26060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0" name="a1_d"/>
          <p:cNvSpPr/>
          <p:nvPr/>
        </p:nvSpPr>
        <p:spPr>
          <a:xfrm>
            <a:off x="6172200" y="2907792"/>
            <a:ext cx="365760" cy="36576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a1_t"/>
          <p:cNvSpPr txBox="1"/>
          <p:nvPr/>
        </p:nvSpPr>
        <p:spPr>
          <a:xfrm>
            <a:off x="6720840" y="2715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EVENTO</a:t>
            </a:r>
            <a:endParaRPr lang="en-US" sz="1800" dirty="0"/>
          </a:p>
        </p:txBody>
      </p:sp>
      <p:sp>
        <p:nvSpPr>
          <p:cNvPr id="12" name="a1_x"/>
          <p:cNvSpPr txBox="1"/>
          <p:nvPr/>
        </p:nvSpPr>
        <p:spPr>
          <a:xfrm>
            <a:off x="6720840" y="3081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Una edición del Encuentro</a:t>
            </a:r>
            <a:endParaRPr lang="en-US" sz="1400" dirty="0"/>
          </a:p>
        </p:txBody>
      </p:sp>
      <p:sp>
        <p:nvSpPr>
          <p:cNvPr id="13" name="a1_r"/>
          <p:cNvSpPr txBox="1"/>
          <p:nvPr/>
        </p:nvSpPr>
        <p:spPr>
          <a:xfrm>
            <a:off x="9052560" y="2715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Administrador y coordinadores del Encuentro</a:t>
            </a:r>
            <a:endParaRPr lang="en-US" sz="1400" dirty="0"/>
          </a:p>
        </p:txBody>
      </p:sp>
      <p:sp>
        <p:nvSpPr>
          <p:cNvPr id="14" name="a2_b"/>
          <p:cNvSpPr/>
          <p:nvPr/>
        </p:nvSpPr>
        <p:spPr>
          <a:xfrm>
            <a:off x="5943600" y="37490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5" name="a2_d"/>
          <p:cNvSpPr/>
          <p:nvPr/>
        </p:nvSpPr>
        <p:spPr>
          <a:xfrm>
            <a:off x="6172200" y="4050792"/>
            <a:ext cx="365760" cy="36576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6" name="a2_t"/>
          <p:cNvSpPr txBox="1"/>
          <p:nvPr/>
        </p:nvSpPr>
        <p:spPr>
          <a:xfrm>
            <a:off x="6720840" y="3858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PUNTO DE CAJA</a:t>
            </a:r>
            <a:endParaRPr lang="en-US" sz="1800" dirty="0"/>
          </a:p>
        </p:txBody>
      </p:sp>
      <p:sp>
        <p:nvSpPr>
          <p:cNvPr id="17" name="a2_x"/>
          <p:cNvSpPr txBox="1"/>
          <p:nvPr/>
        </p:nvSpPr>
        <p:spPr>
          <a:xfrm>
            <a:off x="6720840" y="4224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Un punto de caja concreto</a:t>
            </a:r>
            <a:endParaRPr lang="en-US" sz="1400" dirty="0"/>
          </a:p>
        </p:txBody>
      </p:sp>
      <p:sp>
        <p:nvSpPr>
          <p:cNvPr id="18" name="a2_r"/>
          <p:cNvSpPr txBox="1"/>
          <p:nvPr/>
        </p:nvSpPr>
        <p:spPr>
          <a:xfrm>
            <a:off x="9052560" y="3858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Servidor cajero</a:t>
            </a:r>
            <a:endParaRPr lang="en-US" sz="1400" dirty="0"/>
          </a:p>
        </p:txBody>
      </p:sp>
      <p:sp>
        <p:nvSpPr>
          <p:cNvPr id="19" name="a3_b"/>
          <p:cNvSpPr/>
          <p:nvPr/>
        </p:nvSpPr>
        <p:spPr>
          <a:xfrm>
            <a:off x="5943600" y="4892040"/>
            <a:ext cx="56692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0" name="a3_d"/>
          <p:cNvSpPr/>
          <p:nvPr/>
        </p:nvSpPr>
        <p:spPr>
          <a:xfrm>
            <a:off x="6172200" y="5193792"/>
            <a:ext cx="365760" cy="36576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sp>
        <p:nvSpPr>
          <p:cNvPr id="21" name="a3_t"/>
          <p:cNvSpPr txBox="1"/>
          <p:nvPr/>
        </p:nvSpPr>
        <p:spPr>
          <a:xfrm>
            <a:off x="6720840" y="50017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PROPIO</a:t>
            </a:r>
            <a:endParaRPr lang="en-US" sz="1800" dirty="0"/>
          </a:p>
        </p:txBody>
      </p:sp>
      <p:sp>
        <p:nvSpPr>
          <p:cNvPr id="22" name="a3_x"/>
          <p:cNvSpPr txBox="1"/>
          <p:nvPr/>
        </p:nvSpPr>
        <p:spPr>
          <a:xfrm>
            <a:off x="6720840" y="53675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Solo sus propios registros</a:t>
            </a:r>
            <a:endParaRPr lang="en-US" sz="1400" dirty="0"/>
          </a:p>
        </p:txBody>
      </p:sp>
      <p:sp>
        <p:nvSpPr>
          <p:cNvPr id="23" name="a3_r"/>
          <p:cNvSpPr txBox="1"/>
          <p:nvPr/>
        </p:nvSpPr>
        <p:spPr>
          <a:xfrm>
            <a:off x="9052560" y="50017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Cuenta base: el peregrino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0" y="60807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069"/>
                </a:solidFill>
              </a:rPr>
              <a:t>Un ámbito estrecho nunca alcanza hacia arriba ni hacia los lados.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Siete preguntas que desbloquean el resto del mapa</a:t>
            </a:r>
            <a:endParaRPr lang="en-US" sz="3400" dirty="0"/>
          </a:p>
        </p:txBody>
      </p:sp>
      <p:graphicFrame>
        <p:nvGraphicFramePr>
          <p:cNvPr id="13" name="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486400"/>
                <a:gridCol w="182880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Ref.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Quién decide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Qué desbloquea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D-4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Series de comprobantes, NIT, factura y crédito fiscal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Administración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La facturación boliviana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D-6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¿Quién aprueba una reserva de salón?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Administración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Módulo de salones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D-7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Un curso, ¿es un evento más o lleva sesiones, asistencia y notas?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Escuela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Módulo de formación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D-8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¿La tienda necesita existencias con costo o basta registrar la venta?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Administración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Tienda y cafetería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D-9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Roles reales: quién hace qué fuera del Encuentro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Dirección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Roles más allá del evento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D-13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¿El alta de cuentas es libre o requiere aprobación?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Dirección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Autorregistro de personas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3A5F"/>
                          </a:solidFill>
                        </a:rPr>
                        <a:t>D-12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¿Existe manual de marca de La Mansión?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Dirección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D21"/>
                          </a:solidFill>
                        </a:rPr>
                        <a:t>Identidad visual</a:t>
                      </a:r>
                      <a:endParaRPr lang="en-US" sz="14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Datos que solo la institución puede entregar</a:t>
            </a:r>
            <a:endParaRPr lang="en-US" sz="3400" dirty="0"/>
          </a:p>
        </p:txBody>
      </p:sp>
      <p:sp>
        <p:nvSpPr>
          <p:cNvPr id="3" name="d0_b"/>
          <p:cNvSpPr/>
          <p:nvPr/>
        </p:nvSpPr>
        <p:spPr>
          <a:xfrm>
            <a:off x="548640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4" name="d0_c"/>
          <p:cNvSpPr/>
          <p:nvPr/>
        </p:nvSpPr>
        <p:spPr>
          <a:xfrm>
            <a:off x="1399032" y="1783080"/>
            <a:ext cx="914400" cy="9144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5" name="d0_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6776" y="2020824"/>
            <a:ext cx="438912" cy="438912"/>
          </a:xfrm>
          <a:prstGeom prst="rect">
            <a:avLst/>
          </a:prstGeom>
        </p:spPr>
      </p:pic>
      <p:sp>
        <p:nvSpPr>
          <p:cNvPr id="6" name="d0_h"/>
          <p:cNvSpPr txBox="1"/>
          <p:nvPr/>
        </p:nvSpPr>
        <p:spPr>
          <a:xfrm>
            <a:off x="731520" y="28803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Fechas reales del Encuentro</a:t>
            </a:r>
            <a:endParaRPr lang="en-US" sz="1800" dirty="0"/>
          </a:p>
        </p:txBody>
      </p:sp>
      <p:sp>
        <p:nvSpPr>
          <p:cNvPr id="7" name="d0_s"/>
          <p:cNvSpPr txBox="1"/>
          <p:nvPr/>
        </p:nvSpPr>
        <p:spPr>
          <a:xfrm>
            <a:off x="731520" y="36576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Código, inicio y fin</a:t>
            </a:r>
            <a:endParaRPr lang="en-US" sz="1400" dirty="0"/>
          </a:p>
        </p:txBody>
      </p:sp>
      <p:sp>
        <p:nvSpPr>
          <p:cNvPr id="8" name="d0_k"/>
          <p:cNvSpPr txBox="1"/>
          <p:nvPr/>
        </p:nvSpPr>
        <p:spPr>
          <a:xfrm>
            <a:off x="731520" y="4343400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FBF2DC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4A05"/>
                </a:solidFill>
              </a:rPr>
              <a:t>DETIENE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Crear el evento en el sistema</a:t>
            </a:r>
            <a:endParaRPr lang="en-US" sz="1100" dirty="0"/>
          </a:p>
        </p:txBody>
      </p:sp>
      <p:sp>
        <p:nvSpPr>
          <p:cNvPr id="9" name="d1_b"/>
          <p:cNvSpPr/>
          <p:nvPr/>
        </p:nvSpPr>
        <p:spPr>
          <a:xfrm>
            <a:off x="3346704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0" name="d1_c"/>
          <p:cNvSpPr/>
          <p:nvPr/>
        </p:nvSpPr>
        <p:spPr>
          <a:xfrm>
            <a:off x="4197096" y="1783080"/>
            <a:ext cx="914400" cy="9144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1" name="d1_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020824"/>
            <a:ext cx="438912" cy="438912"/>
          </a:xfrm>
          <a:prstGeom prst="rect">
            <a:avLst/>
          </a:prstGeom>
        </p:spPr>
      </p:pic>
      <p:sp>
        <p:nvSpPr>
          <p:cNvPr id="12" name="d1_h"/>
          <p:cNvSpPr txBox="1"/>
          <p:nvPr/>
        </p:nvSpPr>
        <p:spPr>
          <a:xfrm>
            <a:off x="3529584" y="28803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Cuentas bancarias, QR y PayPal</a:t>
            </a:r>
            <a:endParaRPr lang="en-US" sz="1800" dirty="0"/>
          </a:p>
        </p:txBody>
      </p:sp>
      <p:sp>
        <p:nvSpPr>
          <p:cNvPr id="13" name="d1_s"/>
          <p:cNvSpPr txBox="1"/>
          <p:nvPr/>
        </p:nvSpPr>
        <p:spPr>
          <a:xfrm>
            <a:off x="3529584" y="36576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Datos de cada canal</a:t>
            </a:r>
            <a:endParaRPr lang="en-US" sz="1400" dirty="0"/>
          </a:p>
        </p:txBody>
      </p:sp>
      <p:sp>
        <p:nvSpPr>
          <p:cNvPr id="14" name="d1_k"/>
          <p:cNvSpPr txBox="1"/>
          <p:nvPr/>
        </p:nvSpPr>
        <p:spPr>
          <a:xfrm>
            <a:off x="3529584" y="4343400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FBF2DC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4A05"/>
                </a:solidFill>
              </a:rPr>
              <a:t>DETIENE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Cobro por transferencia y pasarela</a:t>
            </a:r>
            <a:endParaRPr lang="en-US" sz="1100" dirty="0"/>
          </a:p>
        </p:txBody>
      </p:sp>
      <p:sp>
        <p:nvSpPr>
          <p:cNvPr id="15" name="d2_b"/>
          <p:cNvSpPr/>
          <p:nvPr/>
        </p:nvSpPr>
        <p:spPr>
          <a:xfrm>
            <a:off x="6144768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16" name="d2_c"/>
          <p:cNvSpPr/>
          <p:nvPr/>
        </p:nvSpPr>
        <p:spPr>
          <a:xfrm>
            <a:off x="6995160" y="1783080"/>
            <a:ext cx="914400" cy="9144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17" name="d2_i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4" y="2020824"/>
            <a:ext cx="438912" cy="438912"/>
          </a:xfrm>
          <a:prstGeom prst="rect">
            <a:avLst/>
          </a:prstGeom>
        </p:spPr>
      </p:pic>
      <p:sp>
        <p:nvSpPr>
          <p:cNvPr id="18" name="d2_h"/>
          <p:cNvSpPr txBox="1"/>
          <p:nvPr/>
        </p:nvSpPr>
        <p:spPr>
          <a:xfrm>
            <a:off x="6327648" y="28803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Artículo de merchandising</a:t>
            </a:r>
            <a:endParaRPr lang="en-US" sz="1800" dirty="0"/>
          </a:p>
        </p:txBody>
      </p:sp>
      <p:sp>
        <p:nvSpPr>
          <p:cNvPr id="19" name="d2_s"/>
          <p:cNvSpPr txBox="1"/>
          <p:nvPr/>
        </p:nvSpPr>
        <p:spPr>
          <a:xfrm>
            <a:off x="6327648" y="36576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Cuál es</a:t>
            </a:r>
            <a:endParaRPr lang="en-US" sz="1400" dirty="0"/>
          </a:p>
        </p:txBody>
      </p:sp>
      <p:sp>
        <p:nvSpPr>
          <p:cNvPr id="20" name="d2_k"/>
          <p:cNvSpPr txBox="1"/>
          <p:nvPr/>
        </p:nvSpPr>
        <p:spPr>
          <a:xfrm>
            <a:off x="6327648" y="4343400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FBF2DC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4A05"/>
                </a:solidFill>
              </a:rPr>
              <a:t>DETIENE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Una regla de asiento de la tienda</a:t>
            </a:r>
            <a:endParaRPr lang="en-US" sz="1100" dirty="0"/>
          </a:p>
        </p:txBody>
      </p:sp>
      <p:sp>
        <p:nvSpPr>
          <p:cNvPr id="21" name="d3_b"/>
          <p:cNvSpPr/>
          <p:nvPr/>
        </p:nvSpPr>
        <p:spPr>
          <a:xfrm>
            <a:off x="8942832" y="1463040"/>
            <a:ext cx="2615184" cy="42062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 w="9525">
            <a:solidFill>
              <a:srgbClr val="E3E6E9"/>
            </a:solidFill>
            <a:prstDash val="solid"/>
          </a:ln>
          <a:effectLst>
            <a:outerShdw sx="100000" sy="100000" kx="0" ky="0" algn="bl" rotWithShape="0" blurRad="101600" dist="25400" dir="5400000">
              <a:srgbClr val="0F2238">
                <a:alpha val="12000"/>
              </a:srgbClr>
            </a:outerShdw>
          </a:effectLst>
        </p:spPr>
      </p:sp>
      <p:sp>
        <p:nvSpPr>
          <p:cNvPr id="22" name="d3_c"/>
          <p:cNvSpPr/>
          <p:nvPr/>
        </p:nvSpPr>
        <p:spPr>
          <a:xfrm>
            <a:off x="9793224" y="1783080"/>
            <a:ext cx="914400" cy="914400"/>
          </a:xfrm>
          <a:prstGeom prst="ellipse">
            <a:avLst/>
          </a:prstGeom>
          <a:solidFill>
            <a:srgbClr val="E0A526"/>
          </a:solidFill>
          <a:ln w="12700">
            <a:solidFill>
              <a:srgbClr val="E0A526"/>
            </a:solidFill>
            <a:prstDash val="solid"/>
          </a:ln>
        </p:spPr>
      </p:sp>
      <p:pic>
        <p:nvPicPr>
          <p:cNvPr id="23" name="d3_i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968" y="2020824"/>
            <a:ext cx="438912" cy="438912"/>
          </a:xfrm>
          <a:prstGeom prst="rect">
            <a:avLst/>
          </a:prstGeom>
        </p:spPr>
      </p:pic>
      <p:sp>
        <p:nvSpPr>
          <p:cNvPr id="24" name="d3_h"/>
          <p:cNvSpPr txBox="1"/>
          <p:nvPr/>
        </p:nvSpPr>
        <p:spPr>
          <a:xfrm>
            <a:off x="9125712" y="2880360"/>
            <a:ext cx="224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D21"/>
                </a:solidFill>
              </a:rPr>
              <a:t>Cuenta contable por punto de caja</a:t>
            </a:r>
            <a:endParaRPr lang="en-US" sz="1800" dirty="0"/>
          </a:p>
        </p:txBody>
      </p:sp>
      <p:sp>
        <p:nvSpPr>
          <p:cNvPr id="25" name="d3_s"/>
          <p:cNvSpPr txBox="1"/>
          <p:nvPr/>
        </p:nvSpPr>
        <p:spPr>
          <a:xfrm>
            <a:off x="9125712" y="365760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069"/>
                </a:solidFill>
              </a:rPr>
              <a:t>Una por cada punto</a:t>
            </a:r>
            <a:endParaRPr lang="en-US" sz="1400" dirty="0"/>
          </a:p>
        </p:txBody>
      </p:sp>
      <p:sp>
        <p:nvSpPr>
          <p:cNvPr id="26" name="d3_k"/>
          <p:cNvSpPr txBox="1"/>
          <p:nvPr/>
        </p:nvSpPr>
        <p:spPr>
          <a:xfrm>
            <a:off x="9125712" y="4343400"/>
            <a:ext cx="2249424" cy="1005840"/>
          </a:xfrm>
          <a:prstGeom prst="roundRect">
            <a:avLst>
              <a:gd name="adj" fmla="val 7273"/>
            </a:avLst>
          </a:prstGeom>
          <a:solidFill>
            <a:srgbClr val="FBF2DC"/>
          </a:solidFill>
          <a:ln/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B4A05"/>
                </a:solidFill>
              </a:rPr>
              <a:t>DETIENE</a:t>
            </a:r>
            <a:endParaRPr lang="en-US" sz="11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A1D21"/>
                </a:solidFill>
              </a:rPr>
              <a:t>El asiento del cobro en efectivo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6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Lo que conviene retener</a:t>
            </a:r>
            <a:endParaRPr lang="en-US" sz="3400" dirty="0"/>
          </a:p>
        </p:txBody>
      </p:sp>
      <p:sp>
        <p:nvSpPr>
          <p:cNvPr id="3" name="t0_b"/>
          <p:cNvSpPr/>
          <p:nvPr/>
        </p:nvSpPr>
        <p:spPr>
          <a:xfrm>
            <a:off x="548640" y="1463040"/>
            <a:ext cx="3529584" cy="3840480"/>
          </a:xfrm>
          <a:prstGeom prst="roundRect">
            <a:avLst>
              <a:gd name="adj" fmla="val 38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4" name="t0_n"/>
          <p:cNvSpPr txBox="1"/>
          <p:nvPr/>
        </p:nvSpPr>
        <p:spPr>
          <a:xfrm>
            <a:off x="86868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526"/>
                </a:solidFill>
              </a:rPr>
              <a:t>1</a:t>
            </a:r>
            <a:endParaRPr lang="en-US" sz="6400" dirty="0"/>
          </a:p>
        </p:txBody>
      </p:sp>
      <p:sp>
        <p:nvSpPr>
          <p:cNvPr id="5" name="t0_h"/>
          <p:cNvSpPr txBox="1"/>
          <p:nvPr/>
        </p:nvSpPr>
        <p:spPr>
          <a:xfrm>
            <a:off x="86868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No es «el sistema del Encuentro»</a:t>
            </a:r>
            <a:endParaRPr lang="en-US" sz="2100" dirty="0"/>
          </a:p>
        </p:txBody>
      </p:sp>
      <p:sp>
        <p:nvSpPr>
          <p:cNvPr id="6" name="t0_d"/>
          <p:cNvSpPr txBox="1"/>
          <p:nvPr/>
        </p:nvSpPr>
        <p:spPr>
          <a:xfrm>
            <a:off x="868680" y="3611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5"/>
                </a:solidFill>
              </a:rPr>
              <a:t>Cuatro quintas partes de lo construido es núcleo institucional: personas, accesos, cobranza y contabilidad.</a:t>
            </a:r>
            <a:endParaRPr lang="en-US" sz="1600" dirty="0"/>
          </a:p>
        </p:txBody>
      </p:sp>
      <p:sp>
        <p:nvSpPr>
          <p:cNvPr id="7" name="t1_b"/>
          <p:cNvSpPr/>
          <p:nvPr/>
        </p:nvSpPr>
        <p:spPr>
          <a:xfrm>
            <a:off x="4297680" y="1463040"/>
            <a:ext cx="3529584" cy="3840480"/>
          </a:xfrm>
          <a:prstGeom prst="roundRect">
            <a:avLst>
              <a:gd name="adj" fmla="val 38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8" name="t1_n"/>
          <p:cNvSpPr txBox="1"/>
          <p:nvPr/>
        </p:nvSpPr>
        <p:spPr>
          <a:xfrm>
            <a:off x="461772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526"/>
                </a:solidFill>
              </a:rPr>
              <a:t>2</a:t>
            </a:r>
            <a:endParaRPr lang="en-US" sz="6400" dirty="0"/>
          </a:p>
        </p:txBody>
      </p:sp>
      <p:sp>
        <p:nvSpPr>
          <p:cNvPr id="9" name="t1_h"/>
          <p:cNvSpPr txBox="1"/>
          <p:nvPr/>
        </p:nvSpPr>
        <p:spPr>
          <a:xfrm>
            <a:off x="461772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construido está terminado</a:t>
            </a:r>
            <a:endParaRPr lang="en-US" sz="2100" dirty="0"/>
          </a:p>
        </p:txBody>
      </p:sp>
      <p:sp>
        <p:nvSpPr>
          <p:cNvPr id="10" name="t1_d"/>
          <p:cNvSpPr txBox="1"/>
          <p:nvPr/>
        </p:nvSpPr>
        <p:spPr>
          <a:xfrm>
            <a:off x="4617720" y="3611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5"/>
                </a:solidFill>
              </a:rPr>
              <a:t>34 de 34 ventanas, con reglas de negocio impuestas también en la base de datos.</a:t>
            </a:r>
            <a:endParaRPr lang="en-US" sz="1600" dirty="0"/>
          </a:p>
        </p:txBody>
      </p:sp>
      <p:sp>
        <p:nvSpPr>
          <p:cNvPr id="11" name="t2_b"/>
          <p:cNvSpPr/>
          <p:nvPr/>
        </p:nvSpPr>
        <p:spPr>
          <a:xfrm>
            <a:off x="8046720" y="1463040"/>
            <a:ext cx="3529584" cy="3840480"/>
          </a:xfrm>
          <a:prstGeom prst="roundRect">
            <a:avLst>
              <a:gd name="adj" fmla="val 3886"/>
            </a:avLst>
          </a:prstGeom>
          <a:solidFill>
            <a:srgbClr val="1A3150"/>
          </a:solidFill>
          <a:ln w="9525">
            <a:solidFill>
              <a:srgbClr val="2B4A70"/>
            </a:solidFill>
            <a:prstDash val="solid"/>
          </a:ln>
        </p:spPr>
      </p:sp>
      <p:sp>
        <p:nvSpPr>
          <p:cNvPr id="12" name="t2_n"/>
          <p:cNvSpPr txBox="1"/>
          <p:nvPr/>
        </p:nvSpPr>
        <p:spPr>
          <a:xfrm>
            <a:off x="836676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0A526"/>
                </a:solidFill>
              </a:rPr>
              <a:t>3</a:t>
            </a:r>
            <a:endParaRPr lang="en-US" sz="6400" dirty="0"/>
          </a:p>
        </p:txBody>
      </p:sp>
      <p:sp>
        <p:nvSpPr>
          <p:cNvPr id="13" name="t2_h"/>
          <p:cNvSpPr txBox="1"/>
          <p:nvPr/>
        </p:nvSpPr>
        <p:spPr>
          <a:xfrm>
            <a:off x="8366760" y="27432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Lo que queda espera definiciones</a:t>
            </a:r>
            <a:endParaRPr lang="en-US" sz="2100" dirty="0"/>
          </a:p>
        </p:txBody>
      </p:sp>
      <p:sp>
        <p:nvSpPr>
          <p:cNvPr id="14" name="t2_d"/>
          <p:cNvSpPr txBox="1"/>
          <p:nvPr/>
        </p:nvSpPr>
        <p:spPr>
          <a:xfrm>
            <a:off x="8366760" y="361188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DF5"/>
                </a:solidFill>
              </a:rPr>
              <a:t>Responder siete preguntas pone en marcha escuela, salones, cafetería, tienda y ofrendas.</a:t>
            </a:r>
            <a:endParaRPr lang="en-US" sz="1600" dirty="0"/>
          </a:p>
        </p:txBody>
      </p:sp>
      <p:sp>
        <p:nvSpPr>
          <p:cNvPr id="15" name="next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526"/>
                </a:solidFill>
              </a:rPr>
              <a:t>Siguiente paso: agendar las decisiones D-6, D-7 y D-8, y definir el alcance de Empleados.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0C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UAH 3.0">
  <a:themeElements>
    <a:clrScheme name="RUAH 3.0">
      <a:dk1>
        <a:srgbClr val="1A1D21"/>
      </a:dk1>
      <a:lt1>
        <a:srgbClr val="FFFFFF"/>
      </a:lt1>
      <a:dk2>
        <a:srgbClr val="0F2238"/>
      </a:dk2>
      <a:lt2>
        <a:srgbClr val="F4F6F9"/>
      </a:lt2>
      <a:accent1>
        <a:srgbClr val="1E3A5F"/>
      </a:accent1>
      <a:accent2>
        <a:srgbClr val="E0A526"/>
      </a:accent2>
      <a:accent3>
        <a:srgbClr val="0E7C86"/>
      </a:accent3>
      <a:accent4>
        <a:srgbClr val="6B4FA0"/>
      </a:accent4>
      <a:accent5>
        <a:srgbClr val="D9822B"/>
      </a:accent5>
      <a:accent6>
        <a:srgbClr val="2E8B57"/>
      </a:accent6>
      <a:hlink>
        <a:srgbClr val="2563EB"/>
      </a:hlink>
      <a:folHlink>
        <a:srgbClr val="6B4FA0"/>
      </a:folHlink>
    </a:clrScheme>
    <a:fontScheme name="RUAH 3.0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RUAH 3.0 — El ERP de La Mansión</dc:title>
  <dc:subject>PptxGenJS Presentation</dc:subject>
  <dc:creator>La Mansión</dc:creator>
  <cp:lastModifiedBy>La Mansión</cp:lastModifiedBy>
  <cp:revision>1</cp:revision>
  <dcterms:created xsi:type="dcterms:W3CDTF">2026-10-07T17:12:06Z</dcterms:created>
  <dcterms:modified xsi:type="dcterms:W3CDTF">2026-10-07T17:12:06Z</dcterms:modified>
</cp:coreProperties>
</file>